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0700" autoAdjust="0"/>
  </p:normalViewPr>
  <p:slideViewPr>
    <p:cSldViewPr snapToGrid="0" snapToObjects="1">
      <p:cViewPr varScale="1">
        <p:scale>
          <a:sx n="41" d="100"/>
          <a:sy n="41" d="100"/>
        </p:scale>
        <p:origin x="183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1" i="0" u="none" strike="noStrike">
                <a:solidFill>
                  <a:srgbClr val="1E2761"/>
                </a:solidFill>
                <a:latin typeface="Calibri"/>
              </a:defRPr>
            </a:pPr>
            <a:r>
              <a:rPr lang="en-US" sz="1300" b="1" i="0" u="none" strike="noStrike">
                <a:solidFill>
                  <a:srgbClr val="1E2761"/>
                </a:solidFill>
                <a:latin typeface="Calibri"/>
              </a:rPr>
              <a:t>Quantity Sold After Promotion, by Category (%)</a:t>
            </a:r>
          </a:p>
        </c:rich>
      </c:tx>
      <c:overlay val="0"/>
    </c:title>
    <c:autoTitleDeleted val="0"/>
    <c:plotArea>
      <c:layout/>
      <c:doughnutChart>
        <c:varyColors val="1"/>
        <c:ser>
          <c:idx val="0"/>
          <c:order val="0"/>
          <c:tx>
            <c:strRef>
              <c:f>Sheet1!$B$1</c:f>
              <c:strCache>
                <c:ptCount val="1"/>
                <c:pt idx="0">
                  <c:v>Share of Qty Sold</c:v>
                </c:pt>
              </c:strCache>
            </c:strRef>
          </c:tx>
          <c:spPr>
            <a:solidFill>
              <a:schemeClr val="accent1"/>
            </a:solidFill>
            <a:ln w="9525" cap="flat">
              <a:solidFill>
                <a:srgbClr val="F9F9F9"/>
              </a:solidFill>
              <a:prstDash val="solid"/>
              <a:round/>
            </a:ln>
            <a:effectLst/>
          </c:spPr>
          <c:dPt>
            <c:idx val="0"/>
            <c:bubble3D val="0"/>
            <c:spPr>
              <a:solidFill>
                <a:srgbClr val="1E2761"/>
              </a:solidFill>
              <a:effectLst/>
            </c:spPr>
            <c:extLst>
              <c:ext xmlns:c16="http://schemas.microsoft.com/office/drawing/2014/chart" uri="{C3380CC4-5D6E-409C-BE32-E72D297353CC}">
                <c16:uniqueId val="{00000001-7BEB-45AF-9EC8-94A3FA6CA7CF}"/>
              </c:ext>
            </c:extLst>
          </c:dPt>
          <c:dPt>
            <c:idx val="1"/>
            <c:bubble3D val="0"/>
            <c:spPr>
              <a:solidFill>
                <a:srgbClr val="3A5AA0"/>
              </a:solidFill>
              <a:effectLst/>
            </c:spPr>
            <c:extLst>
              <c:ext xmlns:c16="http://schemas.microsoft.com/office/drawing/2014/chart" uri="{C3380CC4-5D6E-409C-BE32-E72D297353CC}">
                <c16:uniqueId val="{00000003-7BEB-45AF-9EC8-94A3FA6CA7CF}"/>
              </c:ext>
            </c:extLst>
          </c:dPt>
          <c:dPt>
            <c:idx val="2"/>
            <c:bubble3D val="0"/>
            <c:spPr>
              <a:solidFill>
                <a:srgbClr val="6E8FCB"/>
              </a:solidFill>
              <a:effectLst/>
            </c:spPr>
            <c:extLst>
              <c:ext xmlns:c16="http://schemas.microsoft.com/office/drawing/2014/chart" uri="{C3380CC4-5D6E-409C-BE32-E72D297353CC}">
                <c16:uniqueId val="{00000005-7BEB-45AF-9EC8-94A3FA6CA7CF}"/>
              </c:ext>
            </c:extLst>
          </c:dPt>
          <c:dPt>
            <c:idx val="3"/>
            <c:bubble3D val="0"/>
            <c:spPr>
              <a:solidFill>
                <a:srgbClr val="CADCFC"/>
              </a:solidFill>
              <a:effectLst/>
            </c:spPr>
            <c:extLst>
              <c:ext xmlns:c16="http://schemas.microsoft.com/office/drawing/2014/chart" uri="{C3380CC4-5D6E-409C-BE32-E72D297353CC}">
                <c16:uniqueId val="{00000007-7BEB-45AF-9EC8-94A3FA6CA7CF}"/>
              </c:ext>
            </c:extLst>
          </c:dPt>
          <c:dPt>
            <c:idx val="4"/>
            <c:bubble3D val="0"/>
            <c:spPr>
              <a:solidFill>
                <a:srgbClr val="AAB6D3"/>
              </a:solidFill>
              <a:effectLst/>
            </c:spPr>
            <c:extLst>
              <c:ext xmlns:c16="http://schemas.microsoft.com/office/drawing/2014/chart" uri="{C3380CC4-5D6E-409C-BE32-E72D297353CC}">
                <c16:uniqueId val="{00000009-7BEB-45AF-9EC8-94A3FA6CA7CF}"/>
              </c:ext>
            </c:extLst>
          </c:dPt>
          <c:dLbls>
            <c:dLbl>
              <c:idx val="0"/>
              <c:numFmt formatCode="0.00&quot;%&quot;" sourceLinked="0"/>
              <c:spPr/>
              <c:txPr>
                <a:bodyPr/>
                <a:lstStyle/>
                <a:p>
                  <a:pPr>
                    <a:defRPr sz="1100" b="0" i="0" u="none" strike="noStrike">
                      <a:solidFill>
                        <a:srgbClr val="FFFFFF"/>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BEB-45AF-9EC8-94A3FA6CA7CF}"/>
                </c:ext>
              </c:extLst>
            </c:dLbl>
            <c:dLbl>
              <c:idx val="1"/>
              <c:numFmt formatCode="0.00&quot;%&quot;" sourceLinked="0"/>
              <c:spPr/>
              <c:txPr>
                <a:bodyPr/>
                <a:lstStyle/>
                <a:p>
                  <a:pPr>
                    <a:defRPr sz="1100" b="0" i="0" u="none" strike="noStrike">
                      <a:solidFill>
                        <a:srgbClr val="FFFFFF"/>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BEB-45AF-9EC8-94A3FA6CA7CF}"/>
                </c:ext>
              </c:extLst>
            </c:dLbl>
            <c:dLbl>
              <c:idx val="2"/>
              <c:numFmt formatCode="0.00&quot;%&quot;" sourceLinked="0"/>
              <c:spPr/>
              <c:txPr>
                <a:bodyPr/>
                <a:lstStyle/>
                <a:p>
                  <a:pPr>
                    <a:defRPr sz="1100" b="0" i="0" u="none" strike="noStrike">
                      <a:solidFill>
                        <a:srgbClr val="FFFFFF"/>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BEB-45AF-9EC8-94A3FA6CA7CF}"/>
                </c:ext>
              </c:extLst>
            </c:dLbl>
            <c:dLbl>
              <c:idx val="3"/>
              <c:numFmt formatCode="0.00&quot;%&quot;" sourceLinked="0"/>
              <c:spPr/>
              <c:txPr>
                <a:bodyPr/>
                <a:lstStyle/>
                <a:p>
                  <a:pPr>
                    <a:defRPr sz="1100" b="0" i="0" u="none" strike="noStrike">
                      <a:solidFill>
                        <a:srgbClr val="FFFFFF"/>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BEB-45AF-9EC8-94A3FA6CA7CF}"/>
                </c:ext>
              </c:extLst>
            </c:dLbl>
            <c:dLbl>
              <c:idx val="4"/>
              <c:numFmt formatCode="0.00&quot;%&quot;" sourceLinked="0"/>
              <c:spPr/>
              <c:txPr>
                <a:bodyPr/>
                <a:lstStyle/>
                <a:p>
                  <a:pPr>
                    <a:defRPr sz="1100" b="0" i="0" u="none" strike="noStrike">
                      <a:solidFill>
                        <a:srgbClr val="FFFFFF"/>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BEB-45AF-9EC8-94A3FA6CA7CF}"/>
                </c:ext>
              </c:extLst>
            </c:dLbl>
            <c:numFmt formatCode="0.00&quot;%&quot;"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Sheet1!$A$2:$A$6</c:f>
              <c:strCache>
                <c:ptCount val="5"/>
                <c:pt idx="0">
                  <c:v>Grocery &amp; Staples</c:v>
                </c:pt>
                <c:pt idx="1">
                  <c:v>Home Appliances</c:v>
                </c:pt>
                <c:pt idx="2">
                  <c:v>Home Care</c:v>
                </c:pt>
                <c:pt idx="3">
                  <c:v>Combo1</c:v>
                </c:pt>
                <c:pt idx="4">
                  <c:v>Personal Care</c:v>
                </c:pt>
              </c:strCache>
            </c:strRef>
          </c:cat>
          <c:val>
            <c:numRef>
              <c:f>Sheet1!$B$2:$B$6</c:f>
              <c:numCache>
                <c:formatCode>General</c:formatCode>
                <c:ptCount val="5"/>
                <c:pt idx="0">
                  <c:v>70.510000000000005</c:v>
                </c:pt>
                <c:pt idx="1">
                  <c:v>14.13</c:v>
                </c:pt>
                <c:pt idx="2">
                  <c:v>6.7</c:v>
                </c:pt>
                <c:pt idx="3">
                  <c:v>4.92</c:v>
                </c:pt>
                <c:pt idx="4">
                  <c:v>3.74</c:v>
                </c:pt>
              </c:numCache>
            </c:numRef>
          </c:val>
          <c:extLst>
            <c:ext xmlns:c16="http://schemas.microsoft.com/office/drawing/2014/chart" uri="{C3380CC4-5D6E-409C-BE32-E72D297353CC}">
              <c16:uniqueId val="{0000000A-7BEB-45AF-9EC8-94A3FA6CA7CF}"/>
            </c:ext>
          </c:extLst>
        </c:ser>
        <c:dLbls>
          <c:showLegendKey val="0"/>
          <c:showVal val="0"/>
          <c:showCatName val="0"/>
          <c:showSerName val="0"/>
          <c:showPercent val="0"/>
          <c:showBubbleSize val="0"/>
          <c:showLeaderLines val="0"/>
        </c:dLbls>
        <c:firstSliceAng val="0"/>
        <c:holeSize val="62"/>
      </c:doughnutChart>
      <c:spPr>
        <a:noFill/>
        <a:ln>
          <a:noFill/>
        </a:ln>
        <a:effectLst/>
      </c:spPr>
    </c:plotArea>
    <c:legend>
      <c:legendPos val="b"/>
      <c:overlay val="0"/>
      <c:txPr>
        <a:bodyPr/>
        <a:lstStyle/>
        <a:p>
          <a:pPr>
            <a:defRPr sz="1100">
              <a:solidFill>
                <a:srgbClr val="1B1F3B"/>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1" i="0" u="none" strike="noStrike">
                <a:solidFill>
                  <a:srgbClr val="1E2761"/>
                </a:solidFill>
                <a:latin typeface="Calibri"/>
              </a:defRPr>
            </a:pPr>
            <a:r>
              <a:rPr lang="en-US" sz="1300" b="1" i="0" u="none" strike="noStrike">
                <a:solidFill>
                  <a:srgbClr val="1E2761"/>
                </a:solidFill>
                <a:latin typeface="Calibri"/>
              </a:rPr>
              <a:t>Incremental Sold Units (ISU %) by City</a:t>
            </a:r>
          </a:p>
        </c:rich>
      </c:tx>
      <c:overlay val="0"/>
    </c:title>
    <c:autoTitleDeleted val="0"/>
    <c:plotArea>
      <c:layout/>
      <c:lineChart>
        <c:grouping val="standard"/>
        <c:varyColors val="0"/>
        <c:ser>
          <c:idx val="0"/>
          <c:order val="0"/>
          <c:tx>
            <c:strRef>
              <c:f>Sheet1!$B$1</c:f>
              <c:strCache>
                <c:ptCount val="1"/>
                <c:pt idx="0">
                  <c:v>ISU %</c:v>
                </c:pt>
              </c:strCache>
            </c:strRef>
          </c:tx>
          <c:spPr>
            <a:ln w="38100" cap="flat">
              <a:solidFill>
                <a:srgbClr val="1E2761"/>
              </a:solidFill>
              <a:prstDash val="solid"/>
              <a:round/>
            </a:ln>
            <a:effectLst/>
          </c:spPr>
          <c:marker>
            <c:symbol val="circle"/>
            <c:size val="7"/>
            <c:spPr>
              <a:solidFill>
                <a:srgbClr val="1E2761"/>
              </a:solidFill>
              <a:ln w="9525" cap="flat">
                <a:solidFill>
                  <a:srgbClr val="1E2761"/>
                </a:solidFill>
                <a:prstDash val="solid"/>
                <a:round/>
              </a:ln>
              <a:effectLst/>
            </c:spPr>
          </c:marker>
          <c:dLbls>
            <c:numFmt formatCode="0.00&quot;%&quot;" sourceLinked="0"/>
            <c:spPr>
              <a:noFill/>
              <a:ln>
                <a:noFill/>
              </a:ln>
              <a:effectLst/>
            </c:spPr>
            <c:txPr>
              <a:bodyPr/>
              <a:lstStyle/>
              <a:p>
                <a:pPr>
                  <a:defRPr sz="950" b="0" i="0" u="none" strike="noStrike">
                    <a:solidFill>
                      <a:srgbClr val="1E2761"/>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Madurai</c:v>
                </c:pt>
                <c:pt idx="1">
                  <c:v>Bengaluru</c:v>
                </c:pt>
                <c:pt idx="2">
                  <c:v>Coimbatore</c:v>
                </c:pt>
                <c:pt idx="3">
                  <c:v>Chennai</c:v>
                </c:pt>
                <c:pt idx="4">
                  <c:v>Vijayawada</c:v>
                </c:pt>
                <c:pt idx="5">
                  <c:v>Trivandrum</c:v>
                </c:pt>
                <c:pt idx="6">
                  <c:v>Mysuru</c:v>
                </c:pt>
                <c:pt idx="7">
                  <c:v>Hyderabad</c:v>
                </c:pt>
                <c:pt idx="8">
                  <c:v>Mangalore</c:v>
                </c:pt>
                <c:pt idx="9">
                  <c:v>Visakhapatnam</c:v>
                </c:pt>
              </c:strCache>
            </c:strRef>
          </c:cat>
          <c:val>
            <c:numRef>
              <c:f>Sheet1!$B$2:$B$11</c:f>
              <c:numCache>
                <c:formatCode>General</c:formatCode>
                <c:ptCount val="10"/>
                <c:pt idx="0">
                  <c:v>121.276445</c:v>
                </c:pt>
                <c:pt idx="1">
                  <c:v>114.696153</c:v>
                </c:pt>
                <c:pt idx="2">
                  <c:v>113.73626400000001</c:v>
                </c:pt>
                <c:pt idx="3">
                  <c:v>112.52328799999999</c:v>
                </c:pt>
                <c:pt idx="4">
                  <c:v>109.66584899999999</c:v>
                </c:pt>
                <c:pt idx="5">
                  <c:v>108.230958</c:v>
                </c:pt>
                <c:pt idx="6">
                  <c:v>105.856499</c:v>
                </c:pt>
                <c:pt idx="7">
                  <c:v>102.123198</c:v>
                </c:pt>
                <c:pt idx="8">
                  <c:v>100.281728</c:v>
                </c:pt>
                <c:pt idx="9">
                  <c:v>99.072607000000005</c:v>
                </c:pt>
              </c:numCache>
            </c:numRef>
          </c:val>
          <c:smooth val="0"/>
          <c:extLst>
            <c:ext xmlns:c16="http://schemas.microsoft.com/office/drawing/2014/chart" uri="{C3380CC4-5D6E-409C-BE32-E72D297353CC}">
              <c16:uniqueId val="{00000000-FC16-48E4-AD15-8CF06E2B90FC}"/>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B1F3B"/>
                </a:solidFill>
                <a:latin typeface="Calibri"/>
              </a:defRPr>
            </a:pPr>
            <a:endParaRPr lang="en-US"/>
          </a:p>
        </c:txPr>
        <c:crossAx val="2094734552"/>
        <c:crosses val="autoZero"/>
        <c:auto val="1"/>
        <c:lblAlgn val="ctr"/>
        <c:lblOffset val="100"/>
        <c:noMultiLvlLbl val="1"/>
      </c:catAx>
      <c:valAx>
        <c:axId val="2094734552"/>
        <c:scaling>
          <c:orientation val="minMax"/>
          <c:max val="125"/>
          <c:min val="90"/>
        </c:scaling>
        <c:delete val="0"/>
        <c:axPos val="l"/>
        <c:majorGridlines>
          <c:spPr>
            <a:ln w="12700" cap="flat">
              <a:solidFill>
                <a:srgbClr val="EDEFF6"/>
              </a:solidFill>
              <a:prstDash val="solid"/>
              <a:round/>
            </a:ln>
          </c:spPr>
        </c:majorGridlines>
        <c:title>
          <c:tx>
            <c:rich>
              <a:bodyPr/>
              <a:lstStyle/>
              <a:p>
                <a:pPr>
                  <a:defRPr sz="1000" b="0" i="0" u="none" strike="noStrike">
                    <a:solidFill>
                      <a:srgbClr val="5B6178"/>
                    </a:solidFill>
                    <a:latin typeface="Arial"/>
                  </a:defRPr>
                </a:pPr>
                <a:r>
                  <a:rPr lang="en-IN" sz="1000" b="0" i="0" u="none" strike="noStrike">
                    <a:solidFill>
                      <a:srgbClr val="5B6178"/>
                    </a:solidFill>
                    <a:latin typeface="Arial"/>
                  </a:rPr>
                  <a:t>ISU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178"/>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1" i="0" u="none" strike="noStrike">
                <a:solidFill>
                  <a:srgbClr val="1E2761"/>
                </a:solidFill>
                <a:latin typeface="Calibri"/>
              </a:defRPr>
            </a:pPr>
            <a:r>
              <a:rPr lang="en-IN" sz="1250" b="1" i="0" u="none" strike="noStrike">
                <a:solidFill>
                  <a:srgbClr val="1E2761"/>
                </a:solidFill>
                <a:latin typeface="Calibri"/>
              </a:rPr>
              <a:t>Incremental Revenue % vs. Incremental Sold Units %</a:t>
            </a:r>
          </a:p>
        </c:rich>
      </c:tx>
      <c:overlay val="0"/>
    </c:title>
    <c:autoTitleDeleted val="0"/>
    <c:plotArea>
      <c:layout/>
      <c:scatterChart>
        <c:scatterStyle val="lineMarker"/>
        <c:varyColors val="0"/>
        <c:ser>
          <c:idx val="0"/>
          <c:order val="0"/>
          <c:tx>
            <c:strRef>
              <c:f>Sheet1!$B$1</c:f>
              <c:strCache>
                <c:ptCount val="1"/>
                <c:pt idx="0">
                  <c:v>25% OFF</c:v>
                </c:pt>
              </c:strCache>
            </c:strRef>
          </c:tx>
          <c:spPr>
            <a:ln>
              <a:noFill/>
            </a:ln>
            <a:effectLst/>
          </c:spPr>
          <c:marker>
            <c:symbol val="circle"/>
            <c:size val="12"/>
            <c:spPr>
              <a:solidFill>
                <a:srgbClr val="C0392B"/>
              </a:solidFill>
              <a:ln w="9525" cap="flat">
                <a:solidFill>
                  <a:srgbClr val="C0392B"/>
                </a:solidFill>
                <a:prstDash val="solid"/>
                <a:round/>
              </a:ln>
              <a:effectLst/>
            </c:spPr>
          </c:marker>
          <c:xVal>
            <c:numRef>
              <c:f>Sheet1!$A$2:$A$6</c:f>
              <c:numCache>
                <c:formatCode>General</c:formatCode>
                <c:ptCount val="5"/>
                <c:pt idx="0">
                  <c:v>-12.9</c:v>
                </c:pt>
                <c:pt idx="1">
                  <c:v>45.17</c:v>
                </c:pt>
                <c:pt idx="2">
                  <c:v>35.94</c:v>
                </c:pt>
                <c:pt idx="3">
                  <c:v>167.38</c:v>
                </c:pt>
                <c:pt idx="4">
                  <c:v>252.83</c:v>
                </c:pt>
              </c:numCache>
            </c:numRef>
          </c:xVal>
          <c:yVal>
            <c:numRef>
              <c:f>Sheet1!$B$2:$B$6</c:f>
              <c:numCache>
                <c:formatCode>General</c:formatCode>
                <c:ptCount val="5"/>
                <c:pt idx="0">
                  <c:v>-34.770000000000003</c:v>
                </c:pt>
              </c:numCache>
            </c:numRef>
          </c:yVal>
          <c:smooth val="0"/>
          <c:extLst>
            <c:ext xmlns:c16="http://schemas.microsoft.com/office/drawing/2014/chart" uri="{C3380CC4-5D6E-409C-BE32-E72D297353CC}">
              <c16:uniqueId val="{00000000-EA8A-4C21-BF18-A1F76C4DAEEA}"/>
            </c:ext>
          </c:extLst>
        </c:ser>
        <c:ser>
          <c:idx val="1"/>
          <c:order val="1"/>
          <c:tx>
            <c:strRef>
              <c:f>Sheet1!$C$1</c:f>
              <c:strCache>
                <c:ptCount val="1"/>
                <c:pt idx="0">
                  <c:v>33% OFF</c:v>
                </c:pt>
              </c:strCache>
            </c:strRef>
          </c:tx>
          <c:spPr>
            <a:ln>
              <a:noFill/>
            </a:ln>
            <a:effectLst/>
          </c:spPr>
          <c:marker>
            <c:symbol val="circle"/>
            <c:size val="12"/>
            <c:spPr>
              <a:solidFill>
                <a:srgbClr val="C99A3A"/>
              </a:solidFill>
              <a:ln w="9525" cap="flat">
                <a:solidFill>
                  <a:srgbClr val="C99A3A"/>
                </a:solidFill>
                <a:prstDash val="solid"/>
                <a:round/>
              </a:ln>
              <a:effectLst/>
            </c:spPr>
          </c:marker>
          <c:xVal>
            <c:numRef>
              <c:f>Sheet1!$A$2:$A$6</c:f>
              <c:numCache>
                <c:formatCode>General</c:formatCode>
                <c:ptCount val="5"/>
                <c:pt idx="0">
                  <c:v>-12.9</c:v>
                </c:pt>
                <c:pt idx="1">
                  <c:v>45.17</c:v>
                </c:pt>
                <c:pt idx="2">
                  <c:v>35.94</c:v>
                </c:pt>
                <c:pt idx="3">
                  <c:v>167.38</c:v>
                </c:pt>
                <c:pt idx="4">
                  <c:v>252.83</c:v>
                </c:pt>
              </c:numCache>
            </c:numRef>
          </c:xVal>
          <c:yVal>
            <c:numRef>
              <c:f>Sheet1!$C$2:$C$6</c:f>
              <c:numCache>
                <c:formatCode>General</c:formatCode>
                <c:ptCount val="5"/>
                <c:pt idx="1">
                  <c:v>-2.98</c:v>
                </c:pt>
              </c:numCache>
            </c:numRef>
          </c:yVal>
          <c:smooth val="0"/>
          <c:extLst>
            <c:ext xmlns:c16="http://schemas.microsoft.com/office/drawing/2014/chart" uri="{C3380CC4-5D6E-409C-BE32-E72D297353CC}">
              <c16:uniqueId val="{00000001-EA8A-4C21-BF18-A1F76C4DAEEA}"/>
            </c:ext>
          </c:extLst>
        </c:ser>
        <c:ser>
          <c:idx val="2"/>
          <c:order val="2"/>
          <c:tx>
            <c:strRef>
              <c:f>Sheet1!$D$1</c:f>
              <c:strCache>
                <c:ptCount val="1"/>
                <c:pt idx="0">
                  <c:v>50% OFF</c:v>
                </c:pt>
              </c:strCache>
            </c:strRef>
          </c:tx>
          <c:spPr>
            <a:ln>
              <a:noFill/>
            </a:ln>
            <a:effectLst/>
          </c:spPr>
          <c:marker>
            <c:symbol val="circle"/>
            <c:size val="12"/>
            <c:spPr>
              <a:solidFill>
                <a:srgbClr val="C0392B"/>
              </a:solidFill>
              <a:ln w="9525" cap="flat">
                <a:solidFill>
                  <a:srgbClr val="C0392B"/>
                </a:solidFill>
                <a:prstDash val="solid"/>
                <a:round/>
              </a:ln>
              <a:effectLst/>
            </c:spPr>
          </c:marker>
          <c:xVal>
            <c:numRef>
              <c:f>Sheet1!$A$2:$A$6</c:f>
              <c:numCache>
                <c:formatCode>General</c:formatCode>
                <c:ptCount val="5"/>
                <c:pt idx="0">
                  <c:v>-12.9</c:v>
                </c:pt>
                <c:pt idx="1">
                  <c:v>45.17</c:v>
                </c:pt>
                <c:pt idx="2">
                  <c:v>35.94</c:v>
                </c:pt>
                <c:pt idx="3">
                  <c:v>167.38</c:v>
                </c:pt>
                <c:pt idx="4">
                  <c:v>252.83</c:v>
                </c:pt>
              </c:numCache>
            </c:numRef>
          </c:xVal>
          <c:yVal>
            <c:numRef>
              <c:f>Sheet1!$D$2:$D$6</c:f>
              <c:numCache>
                <c:formatCode>General</c:formatCode>
                <c:ptCount val="5"/>
                <c:pt idx="2">
                  <c:v>-31.99</c:v>
                </c:pt>
              </c:numCache>
            </c:numRef>
          </c:yVal>
          <c:smooth val="0"/>
          <c:extLst>
            <c:ext xmlns:c16="http://schemas.microsoft.com/office/drawing/2014/chart" uri="{C3380CC4-5D6E-409C-BE32-E72D297353CC}">
              <c16:uniqueId val="{00000002-EA8A-4C21-BF18-A1F76C4DAEEA}"/>
            </c:ext>
          </c:extLst>
        </c:ser>
        <c:ser>
          <c:idx val="3"/>
          <c:order val="3"/>
          <c:tx>
            <c:strRef>
              <c:f>Sheet1!$E$1</c:f>
              <c:strCache>
                <c:ptCount val="1"/>
                <c:pt idx="0">
                  <c:v>500 Cashback</c:v>
                </c:pt>
              </c:strCache>
            </c:strRef>
          </c:tx>
          <c:spPr>
            <a:ln>
              <a:noFill/>
            </a:ln>
            <a:effectLst/>
          </c:spPr>
          <c:marker>
            <c:symbol val="circle"/>
            <c:size val="12"/>
            <c:spPr>
              <a:solidFill>
                <a:srgbClr val="1B7F5C"/>
              </a:solidFill>
              <a:ln w="9525" cap="flat">
                <a:solidFill>
                  <a:srgbClr val="1B7F5C"/>
                </a:solidFill>
                <a:prstDash val="solid"/>
                <a:round/>
              </a:ln>
              <a:effectLst/>
            </c:spPr>
          </c:marker>
          <c:xVal>
            <c:numRef>
              <c:f>Sheet1!$A$2:$A$6</c:f>
              <c:numCache>
                <c:formatCode>General</c:formatCode>
                <c:ptCount val="5"/>
                <c:pt idx="0">
                  <c:v>-12.9</c:v>
                </c:pt>
                <c:pt idx="1">
                  <c:v>45.17</c:v>
                </c:pt>
                <c:pt idx="2">
                  <c:v>35.94</c:v>
                </c:pt>
                <c:pt idx="3">
                  <c:v>167.38</c:v>
                </c:pt>
                <c:pt idx="4">
                  <c:v>252.83</c:v>
                </c:pt>
              </c:numCache>
            </c:numRef>
          </c:xVal>
          <c:yVal>
            <c:numRef>
              <c:f>Sheet1!$E$2:$E$6</c:f>
              <c:numCache>
                <c:formatCode>General</c:formatCode>
                <c:ptCount val="5"/>
                <c:pt idx="3">
                  <c:v>122.82</c:v>
                </c:pt>
              </c:numCache>
            </c:numRef>
          </c:yVal>
          <c:smooth val="0"/>
          <c:extLst>
            <c:ext xmlns:c16="http://schemas.microsoft.com/office/drawing/2014/chart" uri="{C3380CC4-5D6E-409C-BE32-E72D297353CC}">
              <c16:uniqueId val="{00000003-EA8A-4C21-BF18-A1F76C4DAEEA}"/>
            </c:ext>
          </c:extLst>
        </c:ser>
        <c:ser>
          <c:idx val="4"/>
          <c:order val="4"/>
          <c:tx>
            <c:strRef>
              <c:f>Sheet1!$F$1</c:f>
              <c:strCache>
                <c:ptCount val="1"/>
                <c:pt idx="0">
                  <c:v>BOGOF</c:v>
                </c:pt>
              </c:strCache>
            </c:strRef>
          </c:tx>
          <c:spPr>
            <a:ln>
              <a:noFill/>
            </a:ln>
            <a:effectLst/>
          </c:spPr>
          <c:marker>
            <c:symbol val="circle"/>
            <c:size val="12"/>
            <c:spPr>
              <a:solidFill>
                <a:srgbClr val="1E2761"/>
              </a:solidFill>
              <a:ln w="9525" cap="flat">
                <a:solidFill>
                  <a:srgbClr val="1E2761"/>
                </a:solidFill>
                <a:prstDash val="solid"/>
                <a:round/>
              </a:ln>
              <a:effectLst/>
            </c:spPr>
          </c:marker>
          <c:xVal>
            <c:numRef>
              <c:f>Sheet1!$A$2:$A$6</c:f>
              <c:numCache>
                <c:formatCode>General</c:formatCode>
                <c:ptCount val="5"/>
                <c:pt idx="0">
                  <c:v>-12.9</c:v>
                </c:pt>
                <c:pt idx="1">
                  <c:v>45.17</c:v>
                </c:pt>
                <c:pt idx="2">
                  <c:v>35.94</c:v>
                </c:pt>
                <c:pt idx="3">
                  <c:v>167.38</c:v>
                </c:pt>
                <c:pt idx="4">
                  <c:v>252.83</c:v>
                </c:pt>
              </c:numCache>
            </c:numRef>
          </c:xVal>
          <c:yVal>
            <c:numRef>
              <c:f>Sheet1!$F$2:$F$6</c:f>
              <c:numCache>
                <c:formatCode>General</c:formatCode>
                <c:ptCount val="5"/>
                <c:pt idx="4">
                  <c:v>74.12</c:v>
                </c:pt>
              </c:numCache>
            </c:numRef>
          </c:yVal>
          <c:smooth val="0"/>
          <c:extLst>
            <c:ext xmlns:c16="http://schemas.microsoft.com/office/drawing/2014/chart" uri="{C3380CC4-5D6E-409C-BE32-E72D297353CC}">
              <c16:uniqueId val="{00000004-EA8A-4C21-BF18-A1F76C4DAEEA}"/>
            </c:ext>
          </c:extLst>
        </c:ser>
        <c:dLbls>
          <c:showLegendKey val="0"/>
          <c:showVal val="0"/>
          <c:showCatName val="0"/>
          <c:showSerName val="0"/>
          <c:showPercent val="0"/>
          <c:showBubbleSize val="0"/>
        </c:dLbls>
        <c:axId val="2094734554"/>
        <c:axId val="2094734552"/>
      </c:scatterChart>
      <c:valAx>
        <c:axId val="2094734554"/>
        <c:scaling>
          <c:orientation val="minMax"/>
          <c:max val="270"/>
          <c:min val="-30"/>
        </c:scaling>
        <c:delete val="0"/>
        <c:axPos val="b"/>
        <c:majorGridlines>
          <c:spPr>
            <a:ln w="12700" cap="flat">
              <a:solidFill>
                <a:srgbClr val="EDEFF6"/>
              </a:solidFill>
              <a:prstDash val="solid"/>
              <a:round/>
            </a:ln>
          </c:spPr>
        </c:majorGridlines>
        <c:title>
          <c:tx>
            <c:rich>
              <a:bodyPr/>
              <a:lstStyle/>
              <a:p>
                <a:pPr>
                  <a:defRPr sz="1000" b="0" i="0" u="none" strike="noStrike">
                    <a:solidFill>
                      <a:srgbClr val="5B6178"/>
                    </a:solidFill>
                    <a:latin typeface="Arial"/>
                  </a:defRPr>
                </a:pPr>
                <a:r>
                  <a:rPr lang="en-IN" sz="1000" b="0" i="0" u="none" strike="noStrike">
                    <a:solidFill>
                      <a:srgbClr val="5B6178"/>
                    </a:solidFill>
                    <a:latin typeface="Arial"/>
                  </a:rPr>
                  <a:t>ISU % (Incremental Sold Units)</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950" b="0" i="0" u="none" strike="noStrike">
                <a:solidFill>
                  <a:srgbClr val="5B6178"/>
                </a:solidFill>
                <a:latin typeface="Calibri"/>
              </a:defRPr>
            </a:pPr>
            <a:endParaRPr lang="en-US"/>
          </a:p>
        </c:txPr>
        <c:crossAx val="2094734552"/>
        <c:crosses val="autoZero"/>
        <c:crossBetween val="midCat"/>
      </c:valAx>
      <c:valAx>
        <c:axId val="2094734552"/>
        <c:scaling>
          <c:orientation val="minMax"/>
          <c:max val="140"/>
          <c:min val="-50"/>
        </c:scaling>
        <c:delete val="0"/>
        <c:axPos val="l"/>
        <c:majorGridlines>
          <c:spPr>
            <a:ln w="12700" cap="flat">
              <a:solidFill>
                <a:srgbClr val="EDEFF6"/>
              </a:solidFill>
              <a:prstDash val="solid"/>
              <a:round/>
            </a:ln>
          </c:spPr>
        </c:majorGridlines>
        <c:title>
          <c:tx>
            <c:rich>
              <a:bodyPr/>
              <a:lstStyle/>
              <a:p>
                <a:pPr>
                  <a:defRPr sz="1000" b="0" i="0" u="none" strike="noStrike">
                    <a:solidFill>
                      <a:srgbClr val="5B6178"/>
                    </a:solidFill>
                    <a:latin typeface="Arial"/>
                  </a:defRPr>
                </a:pPr>
                <a:r>
                  <a:rPr lang="en-IN" sz="1000" b="0" i="0" u="none" strike="noStrike">
                    <a:solidFill>
                      <a:srgbClr val="5B6178"/>
                    </a:solidFill>
                    <a:latin typeface="Arial"/>
                  </a:rPr>
                  <a:t>IR % (Incremental Revenue)</a:t>
                </a:r>
              </a:p>
            </c:rich>
          </c:tx>
          <c:overlay val="0"/>
        </c:title>
        <c:numFmt formatCode="General" sourceLinked="0"/>
        <c:majorTickMark val="none"/>
        <c:minorTickMark val="none"/>
        <c:tickLblPos val="nextTo"/>
        <c:spPr>
          <a:ln w="12700" cap="flat">
            <a:solidFill>
              <a:srgbClr val="888888"/>
            </a:solidFill>
            <a:prstDash val="solid"/>
            <a:round/>
          </a:ln>
        </c:spPr>
        <c:txPr>
          <a:bodyPr/>
          <a:lstStyle/>
          <a:p>
            <a:pPr>
              <a:defRPr sz="950" b="0" i="0" u="none" strike="noStrike">
                <a:solidFill>
                  <a:srgbClr val="5B6178"/>
                </a:solidFill>
                <a:latin typeface="Calibri"/>
              </a:defRPr>
            </a:pPr>
            <a:endParaRPr lang="en-US"/>
          </a:p>
        </c:txPr>
        <c:crossAx val="2094734554"/>
        <c:crosses val="autoZero"/>
        <c:crossBetween val="midCat"/>
      </c:valAx>
      <c:spPr>
        <a:noFill/>
        <a:ln>
          <a:noFill/>
        </a:ln>
        <a:effectLst/>
      </c:spPr>
    </c:plotArea>
    <c:legend>
      <c:legendPos val="b"/>
      <c:overlay val="0"/>
      <c:txPr>
        <a:bodyPr/>
        <a:lstStyle/>
        <a:p>
          <a:pPr>
            <a:defRPr sz="1000">
              <a:solidFill>
                <a:srgbClr val="1B1F3B"/>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1" i="0" u="none" strike="noStrike">
                <a:solidFill>
                  <a:srgbClr val="1E2761"/>
                </a:solidFill>
                <a:latin typeface="Calibri"/>
              </a:defRPr>
            </a:pPr>
            <a:r>
              <a:rPr lang="en-US" sz="1300" b="1" i="0" u="none" strike="noStrike">
                <a:solidFill>
                  <a:srgbClr val="1E2761"/>
                </a:solidFill>
                <a:latin typeface="Calibri"/>
              </a:rPr>
              <a:t>Revenue Before vs. After Promotion (₹ Million)</a:t>
            </a:r>
          </a:p>
        </c:rich>
      </c:tx>
      <c:overlay val="0"/>
    </c:title>
    <c:autoTitleDeleted val="0"/>
    <c:plotArea>
      <c:layout/>
      <c:barChart>
        <c:barDir val="col"/>
        <c:grouping val="clustered"/>
        <c:varyColors val="0"/>
        <c:ser>
          <c:idx val="0"/>
          <c:order val="0"/>
          <c:tx>
            <c:strRef>
              <c:f>Sheet1!$B$1</c:f>
              <c:strCache>
                <c:ptCount val="1"/>
                <c:pt idx="0">
                  <c:v>Before Promotion</c:v>
                </c:pt>
              </c:strCache>
            </c:strRef>
          </c:tx>
          <c:spPr>
            <a:solidFill>
              <a:srgbClr val="CADCFC"/>
            </a:solidFill>
            <a:effectLst/>
          </c:spPr>
          <c:invertIfNegative val="0"/>
          <c:dLbls>
            <c:numFmt formatCode="0.00" sourceLinked="0"/>
            <c:spPr>
              <a:noFill/>
              <a:ln>
                <a:noFill/>
              </a:ln>
              <a:effectLst/>
            </c:spPr>
            <c:txPr>
              <a:bodyPr/>
              <a:lstStyle/>
              <a:p>
                <a:pPr>
                  <a:defRPr sz="900" b="0" i="0" u="none" strike="noStrike">
                    <a:solidFill>
                      <a:srgbClr val="1B1F3B"/>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Combo1</c:v>
                </c:pt>
                <c:pt idx="1">
                  <c:v>Grocery &amp; Staples</c:v>
                </c:pt>
                <c:pt idx="2">
                  <c:v>Home Appliances</c:v>
                </c:pt>
                <c:pt idx="3">
                  <c:v>Home Care</c:v>
                </c:pt>
                <c:pt idx="4">
                  <c:v>Personal Care</c:v>
                </c:pt>
              </c:strCache>
            </c:strRef>
          </c:cat>
          <c:val>
            <c:numRef>
              <c:f>Sheet1!$B$2:$B$6</c:f>
              <c:numCache>
                <c:formatCode>General</c:formatCode>
                <c:ptCount val="5"/>
                <c:pt idx="0">
                  <c:v>15.776999999999999</c:v>
                </c:pt>
                <c:pt idx="1">
                  <c:v>12.262</c:v>
                </c:pt>
                <c:pt idx="2">
                  <c:v>2.1890000000000001</c:v>
                </c:pt>
                <c:pt idx="3">
                  <c:v>2.1040000000000001</c:v>
                </c:pt>
                <c:pt idx="4">
                  <c:v>0.57599999999999996</c:v>
                </c:pt>
              </c:numCache>
            </c:numRef>
          </c:val>
          <c:extLst>
            <c:ext xmlns:c16="http://schemas.microsoft.com/office/drawing/2014/chart" uri="{C3380CC4-5D6E-409C-BE32-E72D297353CC}">
              <c16:uniqueId val="{00000000-F3DA-4D57-A6D3-BCF7087D42B6}"/>
            </c:ext>
          </c:extLst>
        </c:ser>
        <c:ser>
          <c:idx val="1"/>
          <c:order val="1"/>
          <c:tx>
            <c:strRef>
              <c:f>Sheet1!$C$1</c:f>
              <c:strCache>
                <c:ptCount val="1"/>
                <c:pt idx="0">
                  <c:v>After Promotion</c:v>
                </c:pt>
              </c:strCache>
            </c:strRef>
          </c:tx>
          <c:spPr>
            <a:solidFill>
              <a:srgbClr val="1E2761"/>
            </a:solidFill>
            <a:effectLst/>
          </c:spPr>
          <c:invertIfNegative val="0"/>
          <c:dLbls>
            <c:numFmt formatCode="0.00" sourceLinked="0"/>
            <c:spPr>
              <a:noFill/>
              <a:ln>
                <a:noFill/>
              </a:ln>
              <a:effectLst/>
            </c:spPr>
            <c:txPr>
              <a:bodyPr/>
              <a:lstStyle/>
              <a:p>
                <a:pPr>
                  <a:defRPr sz="900" b="0" i="0" u="none" strike="noStrike">
                    <a:solidFill>
                      <a:srgbClr val="1B1F3B"/>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Combo1</c:v>
                </c:pt>
                <c:pt idx="1">
                  <c:v>Grocery &amp; Staples</c:v>
                </c:pt>
                <c:pt idx="2">
                  <c:v>Home Appliances</c:v>
                </c:pt>
                <c:pt idx="3">
                  <c:v>Home Care</c:v>
                </c:pt>
                <c:pt idx="4">
                  <c:v>Personal Care</c:v>
                </c:pt>
              </c:strCache>
            </c:strRef>
          </c:cat>
          <c:val>
            <c:numRef>
              <c:f>Sheet1!$C$2:$C$6</c:f>
              <c:numCache>
                <c:formatCode>General</c:formatCode>
                <c:ptCount val="5"/>
                <c:pt idx="0">
                  <c:v>38.125</c:v>
                </c:pt>
                <c:pt idx="1">
                  <c:v>13.861000000000001</c:v>
                </c:pt>
                <c:pt idx="2">
                  <c:v>4.1230000000000002</c:v>
                </c:pt>
                <c:pt idx="3">
                  <c:v>3.18</c:v>
                </c:pt>
                <c:pt idx="4">
                  <c:v>0.39</c:v>
                </c:pt>
              </c:numCache>
            </c:numRef>
          </c:val>
          <c:extLst>
            <c:ext xmlns:c16="http://schemas.microsoft.com/office/drawing/2014/chart" uri="{C3380CC4-5D6E-409C-BE32-E72D297353CC}">
              <c16:uniqueId val="{00000001-F3DA-4D57-A6D3-BCF7087D42B6}"/>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B1F3B"/>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DEFF6"/>
              </a:solidFill>
              <a:prstDash val="solid"/>
              <a:round/>
            </a:ln>
          </c:spPr>
        </c:majorGridlines>
        <c:title>
          <c:tx>
            <c:rich>
              <a:bodyPr/>
              <a:lstStyle/>
              <a:p>
                <a:pPr>
                  <a:defRPr sz="1000" b="0" i="0" u="none" strike="noStrike">
                    <a:solidFill>
                      <a:srgbClr val="5B6178"/>
                    </a:solidFill>
                    <a:latin typeface="Arial"/>
                  </a:defRPr>
                </a:pPr>
                <a:r>
                  <a:rPr lang="en-IN" sz="1000" b="0" i="0" u="none" strike="noStrike">
                    <a:solidFill>
                      <a:srgbClr val="5B6178"/>
                    </a:solidFill>
                    <a:latin typeface="Arial"/>
                  </a:rPr>
                  <a:t>Revenue (₹ Million)</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1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1B1F3B"/>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936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E2761"/>
          </a:solidFill>
          <a:ln/>
        </p:spPr>
        <p:txBody>
          <a:bodyPr/>
          <a:lstStyle/>
          <a:p>
            <a:endParaRPr lang="en-IN"/>
          </a:p>
        </p:txBody>
      </p:sp>
      <p:sp>
        <p:nvSpPr>
          <p:cNvPr id="3" name="Shape 1"/>
          <p:cNvSpPr/>
          <p:nvPr/>
        </p:nvSpPr>
        <p:spPr>
          <a:xfrm>
            <a:off x="8778240" y="-2011680"/>
            <a:ext cx="5943600" cy="5943600"/>
          </a:xfrm>
          <a:prstGeom prst="ellipse">
            <a:avLst/>
          </a:prstGeom>
          <a:solidFill>
            <a:srgbClr val="141B47"/>
          </a:solidFill>
          <a:ln/>
        </p:spPr>
        <p:txBody>
          <a:bodyPr/>
          <a:lstStyle/>
          <a:p>
            <a:endParaRPr lang="en-IN"/>
          </a:p>
        </p:txBody>
      </p:sp>
      <p:sp>
        <p:nvSpPr>
          <p:cNvPr id="4" name="Shape 2"/>
          <p:cNvSpPr/>
          <p:nvPr/>
        </p:nvSpPr>
        <p:spPr>
          <a:xfrm>
            <a:off x="10332720" y="4206240"/>
            <a:ext cx="3840480" cy="3840480"/>
          </a:xfrm>
          <a:prstGeom prst="ellipse">
            <a:avLst/>
          </a:prstGeom>
          <a:solidFill>
            <a:srgbClr val="141B47"/>
          </a:solidFill>
          <a:ln/>
        </p:spPr>
        <p:txBody>
          <a:bodyPr/>
          <a:lstStyle/>
          <a:p>
            <a:endParaRPr lang="en-IN"/>
          </a:p>
        </p:txBody>
      </p:sp>
      <p:sp>
        <p:nvSpPr>
          <p:cNvPr id="5" name="Text 3"/>
          <p:cNvSpPr/>
          <p:nvPr/>
        </p:nvSpPr>
        <p:spPr>
          <a:xfrm>
            <a:off x="822960" y="1417320"/>
            <a:ext cx="7315200" cy="320040"/>
          </a:xfrm>
          <a:prstGeom prst="rect">
            <a:avLst/>
          </a:prstGeom>
          <a:noFill/>
          <a:ln/>
        </p:spPr>
        <p:txBody>
          <a:bodyPr wrap="square" lIns="0" tIns="0" rIns="0" bIns="0" rtlCol="0" anchor="ctr"/>
          <a:lstStyle/>
          <a:p>
            <a:pPr marL="0" indent="0">
              <a:buNone/>
            </a:pPr>
            <a:r>
              <a:rPr lang="en-US" sz="1300" b="1" kern="0" spc="200" dirty="0">
                <a:solidFill>
                  <a:srgbClr val="C99A3A"/>
                </a:solidFill>
                <a:latin typeface="Calibri" pitchFamily="34" charset="0"/>
                <a:ea typeface="Calibri" pitchFamily="34" charset="-122"/>
                <a:cs typeface="Calibri" pitchFamily="34" charset="-120"/>
              </a:rPr>
              <a:t>NOVA MART  ·  RETAIL ANALYTICS</a:t>
            </a:r>
            <a:endParaRPr lang="en-US" sz="1300" dirty="0"/>
          </a:p>
        </p:txBody>
      </p:sp>
      <p:sp>
        <p:nvSpPr>
          <p:cNvPr id="6" name="Text 4"/>
          <p:cNvSpPr/>
          <p:nvPr/>
        </p:nvSpPr>
        <p:spPr>
          <a:xfrm>
            <a:off x="777240" y="1828800"/>
            <a:ext cx="9875520" cy="12344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Campaign Performance Analysis</a:t>
            </a:r>
            <a:endParaRPr lang="en-US" sz="4400" dirty="0"/>
          </a:p>
        </p:txBody>
      </p:sp>
      <p:sp>
        <p:nvSpPr>
          <p:cNvPr id="7" name="Text 5"/>
          <p:cNvSpPr/>
          <p:nvPr/>
        </p:nvSpPr>
        <p:spPr>
          <a:xfrm>
            <a:off x="822960" y="2999232"/>
            <a:ext cx="9601200" cy="457200"/>
          </a:xfrm>
          <a:prstGeom prst="rect">
            <a:avLst/>
          </a:prstGeom>
          <a:noFill/>
          <a:ln/>
        </p:spPr>
        <p:txBody>
          <a:bodyPr wrap="square" lIns="0" tIns="0" rIns="0" bIns="0" rtlCol="0" anchor="ctr"/>
          <a:lstStyle/>
          <a:p>
            <a:pPr marL="0" indent="0">
              <a:buNone/>
            </a:pPr>
            <a:r>
              <a:rPr lang="en-US" sz="1700" dirty="0">
                <a:solidFill>
                  <a:srgbClr val="CADCFC"/>
                </a:solidFill>
                <a:latin typeface="Calibri" pitchFamily="34" charset="0"/>
                <a:ea typeface="Calibri" pitchFamily="34" charset="-122"/>
                <a:cs typeface="Calibri" pitchFamily="34" charset="-120"/>
              </a:rPr>
              <a:t>Week-1 &amp; Task-2  |  Business Insights &amp; Data Visualization</a:t>
            </a:r>
            <a:endParaRPr lang="en-US" sz="1700" dirty="0"/>
          </a:p>
        </p:txBody>
      </p:sp>
      <p:sp>
        <p:nvSpPr>
          <p:cNvPr id="8" name="Shape 6"/>
          <p:cNvSpPr/>
          <p:nvPr/>
        </p:nvSpPr>
        <p:spPr>
          <a:xfrm>
            <a:off x="822960" y="3794760"/>
            <a:ext cx="2148840" cy="457200"/>
          </a:xfrm>
          <a:prstGeom prst="roundRect">
            <a:avLst>
              <a:gd name="adj" fmla="val 50000"/>
            </a:avLst>
          </a:prstGeom>
          <a:solidFill>
            <a:srgbClr val="141B47"/>
          </a:solidFill>
          <a:ln w="9525">
            <a:solidFill>
              <a:srgbClr val="CADCFC"/>
            </a:solidFill>
            <a:prstDash val="solid"/>
          </a:ln>
        </p:spPr>
        <p:txBody>
          <a:bodyPr/>
          <a:lstStyle/>
          <a:p>
            <a:endParaRPr lang="en-IN"/>
          </a:p>
        </p:txBody>
      </p:sp>
      <p:sp>
        <p:nvSpPr>
          <p:cNvPr id="9" name="Text 7"/>
          <p:cNvSpPr/>
          <p:nvPr/>
        </p:nvSpPr>
        <p:spPr>
          <a:xfrm>
            <a:off x="822960" y="3794760"/>
            <a:ext cx="214884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Diwali 2023</a:t>
            </a:r>
            <a:endParaRPr lang="en-US" sz="1250" dirty="0"/>
          </a:p>
        </p:txBody>
      </p:sp>
      <p:sp>
        <p:nvSpPr>
          <p:cNvPr id="10" name="Shape 8"/>
          <p:cNvSpPr/>
          <p:nvPr/>
        </p:nvSpPr>
        <p:spPr>
          <a:xfrm>
            <a:off x="3108960" y="3794760"/>
            <a:ext cx="2331720" cy="457200"/>
          </a:xfrm>
          <a:prstGeom prst="roundRect">
            <a:avLst>
              <a:gd name="adj" fmla="val 50000"/>
            </a:avLst>
          </a:prstGeom>
          <a:solidFill>
            <a:srgbClr val="141B47"/>
          </a:solidFill>
          <a:ln w="9525">
            <a:solidFill>
              <a:srgbClr val="CADCFC"/>
            </a:solidFill>
            <a:prstDash val="solid"/>
          </a:ln>
        </p:spPr>
        <p:txBody>
          <a:bodyPr/>
          <a:lstStyle/>
          <a:p>
            <a:endParaRPr lang="en-IN"/>
          </a:p>
        </p:txBody>
      </p:sp>
      <p:sp>
        <p:nvSpPr>
          <p:cNvPr id="11" name="Text 9"/>
          <p:cNvSpPr/>
          <p:nvPr/>
        </p:nvSpPr>
        <p:spPr>
          <a:xfrm>
            <a:off x="3108960" y="3794760"/>
            <a:ext cx="233172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Sankranti 2024</a:t>
            </a:r>
            <a:endParaRPr lang="en-US" sz="1250" dirty="0"/>
          </a:p>
        </p:txBody>
      </p:sp>
      <p:sp>
        <p:nvSpPr>
          <p:cNvPr id="12" name="Shape 10"/>
          <p:cNvSpPr/>
          <p:nvPr/>
        </p:nvSpPr>
        <p:spPr>
          <a:xfrm>
            <a:off x="822960" y="5074920"/>
            <a:ext cx="4023360" cy="0"/>
          </a:xfrm>
          <a:prstGeom prst="line">
            <a:avLst/>
          </a:prstGeom>
          <a:noFill/>
          <a:ln w="12700">
            <a:solidFill>
              <a:srgbClr val="CADCFC"/>
            </a:solidFill>
            <a:prstDash val="solid"/>
          </a:ln>
        </p:spPr>
        <p:txBody>
          <a:bodyPr/>
          <a:lstStyle/>
          <a:p>
            <a:endParaRPr lang="en-IN"/>
          </a:p>
        </p:txBody>
      </p:sp>
      <p:sp>
        <p:nvSpPr>
          <p:cNvPr id="13" name="Text 11"/>
          <p:cNvSpPr/>
          <p:nvPr/>
        </p:nvSpPr>
        <p:spPr>
          <a:xfrm>
            <a:off x="822960" y="5212080"/>
            <a:ext cx="3657600" cy="27432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Presented by</a:t>
            </a:r>
            <a:endParaRPr lang="en-US" sz="1100" dirty="0"/>
          </a:p>
        </p:txBody>
      </p:sp>
      <p:sp>
        <p:nvSpPr>
          <p:cNvPr id="14" name="Text 12"/>
          <p:cNvSpPr/>
          <p:nvPr/>
        </p:nvSpPr>
        <p:spPr>
          <a:xfrm>
            <a:off x="822960" y="5468112"/>
            <a:ext cx="4572000"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Abhinay Angadi</a:t>
            </a:r>
            <a:endParaRPr lang="en-US" sz="1900" dirty="0"/>
          </a:p>
        </p:txBody>
      </p:sp>
      <p:sp>
        <p:nvSpPr>
          <p:cNvPr id="15" name="Text 13"/>
          <p:cNvSpPr/>
          <p:nvPr/>
        </p:nvSpPr>
        <p:spPr>
          <a:xfrm>
            <a:off x="822960" y="5852160"/>
            <a:ext cx="4572000" cy="292608"/>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Data Scientist / ML Engineer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150" dirty="0">
                <a:solidFill>
                  <a:srgbClr val="C99A3A"/>
                </a:solidFill>
                <a:latin typeface="Calibri" pitchFamily="34" charset="0"/>
                <a:ea typeface="Calibri" pitchFamily="34" charset="-122"/>
                <a:cs typeface="Calibri" pitchFamily="34" charset="-120"/>
              </a:rPr>
              <a:t>EXECUTIVE SUMMARY</a:t>
            </a:r>
            <a:endParaRPr lang="en-US" sz="1200" dirty="0"/>
          </a:p>
        </p:txBody>
      </p:sp>
      <p:sp>
        <p:nvSpPr>
          <p:cNvPr id="3" name="Text 1"/>
          <p:cNvSpPr/>
          <p:nvPr/>
        </p:nvSpPr>
        <p:spPr>
          <a:xfrm>
            <a:off x="548640" y="566928"/>
            <a:ext cx="11064240" cy="59436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Promotions Drove Growth — Unevenly Across the Business</a:t>
            </a:r>
            <a:endParaRPr lang="en-US" sz="2800" dirty="0"/>
          </a:p>
        </p:txBody>
      </p:sp>
      <p:sp>
        <p:nvSpPr>
          <p:cNvPr id="4" name="Shape 2"/>
          <p:cNvSpPr/>
          <p:nvPr/>
        </p:nvSpPr>
        <p:spPr>
          <a:xfrm>
            <a:off x="548640" y="1417320"/>
            <a:ext cx="2103120" cy="1600200"/>
          </a:xfrm>
          <a:prstGeom prst="roundRect">
            <a:avLst>
              <a:gd name="adj" fmla="val 4571"/>
            </a:avLst>
          </a:prstGeom>
          <a:solidFill>
            <a:srgbClr val="FFFFFF"/>
          </a:solidFill>
          <a:ln w="12700">
            <a:solidFill>
              <a:srgbClr val="E3E7F1"/>
            </a:solidFill>
            <a:prstDash val="solid"/>
          </a:ln>
          <a:effectLst>
            <a:outerShdw blurRad="76200" dist="25400" dir="5400000" algn="bl" rotWithShape="0">
              <a:srgbClr val="9AA5C7">
                <a:alpha val="35000"/>
              </a:srgbClr>
            </a:outerShdw>
          </a:effectLst>
        </p:spPr>
        <p:txBody>
          <a:bodyPr/>
          <a:lstStyle/>
          <a:p>
            <a:endParaRPr lang="en-IN"/>
          </a:p>
        </p:txBody>
      </p:sp>
      <p:sp>
        <p:nvSpPr>
          <p:cNvPr id="5" name="Text 3"/>
          <p:cNvSpPr/>
          <p:nvPr/>
        </p:nvSpPr>
        <p:spPr>
          <a:xfrm>
            <a:off x="685800" y="1545336"/>
            <a:ext cx="1828800" cy="1033272"/>
          </a:xfrm>
          <a:prstGeom prst="rect">
            <a:avLst/>
          </a:prstGeom>
          <a:noFill/>
          <a:ln/>
        </p:spPr>
        <p:txBody>
          <a:bodyPr wrap="square" lIns="0" tIns="0" rIns="0" bIns="0" rtlCol="0" anchor="b"/>
          <a:lstStyle/>
          <a:p>
            <a:pPr marL="0" indent="0" algn="l">
              <a:buNone/>
            </a:pPr>
            <a:r>
              <a:rPr lang="en-US" sz="2500" b="1" dirty="0">
                <a:solidFill>
                  <a:srgbClr val="1E2761"/>
                </a:solidFill>
                <a:latin typeface="Cambria" pitchFamily="34" charset="0"/>
                <a:ea typeface="Cambria" pitchFamily="34" charset="-122"/>
                <a:cs typeface="Cambria" pitchFamily="34" charset="-120"/>
              </a:rPr>
              <a:t>70.51%</a:t>
            </a:r>
            <a:endParaRPr lang="en-US" sz="2500" dirty="0"/>
          </a:p>
        </p:txBody>
      </p:sp>
      <p:sp>
        <p:nvSpPr>
          <p:cNvPr id="6" name="Text 4"/>
          <p:cNvSpPr/>
          <p:nvPr/>
        </p:nvSpPr>
        <p:spPr>
          <a:xfrm>
            <a:off x="685800" y="2596896"/>
            <a:ext cx="1828800" cy="365760"/>
          </a:xfrm>
          <a:prstGeom prst="rect">
            <a:avLst/>
          </a:prstGeom>
          <a:noFill/>
          <a:ln/>
        </p:spPr>
        <p:txBody>
          <a:bodyPr wrap="square" lIns="0" tIns="0" rIns="0" bIns="0" rtlCol="0" anchor="t"/>
          <a:lstStyle/>
          <a:p>
            <a:pPr marL="0" indent="0" algn="l">
              <a:buNone/>
            </a:pPr>
            <a:r>
              <a:rPr lang="en-US" sz="1050" dirty="0">
                <a:solidFill>
                  <a:srgbClr val="5B6178"/>
                </a:solidFill>
                <a:latin typeface="Calibri" pitchFamily="34" charset="0"/>
                <a:ea typeface="Calibri" pitchFamily="34" charset="-122"/>
                <a:cs typeface="Calibri" pitchFamily="34" charset="-120"/>
              </a:rPr>
              <a:t>Sankranti volume from Grocery &amp; Staples</a:t>
            </a:r>
            <a:endParaRPr lang="en-US" sz="1050" dirty="0"/>
          </a:p>
        </p:txBody>
      </p:sp>
      <p:sp>
        <p:nvSpPr>
          <p:cNvPr id="7" name="Shape 5"/>
          <p:cNvSpPr/>
          <p:nvPr/>
        </p:nvSpPr>
        <p:spPr>
          <a:xfrm>
            <a:off x="2825496" y="1417320"/>
            <a:ext cx="2103120" cy="1600200"/>
          </a:xfrm>
          <a:prstGeom prst="roundRect">
            <a:avLst>
              <a:gd name="adj" fmla="val 4571"/>
            </a:avLst>
          </a:prstGeom>
          <a:solidFill>
            <a:srgbClr val="FFFFFF"/>
          </a:solidFill>
          <a:ln w="12700">
            <a:solidFill>
              <a:srgbClr val="E3E7F1"/>
            </a:solidFill>
            <a:prstDash val="solid"/>
          </a:ln>
          <a:effectLst>
            <a:outerShdw blurRad="76200" dist="25400" dir="5400000" algn="bl" rotWithShape="0">
              <a:srgbClr val="9AA5C7">
                <a:alpha val="35000"/>
              </a:srgbClr>
            </a:outerShdw>
          </a:effectLst>
        </p:spPr>
        <p:txBody>
          <a:bodyPr/>
          <a:lstStyle/>
          <a:p>
            <a:endParaRPr lang="en-IN"/>
          </a:p>
        </p:txBody>
      </p:sp>
      <p:sp>
        <p:nvSpPr>
          <p:cNvPr id="8" name="Text 6"/>
          <p:cNvSpPr/>
          <p:nvPr/>
        </p:nvSpPr>
        <p:spPr>
          <a:xfrm>
            <a:off x="2962656" y="1545336"/>
            <a:ext cx="1828800" cy="1033272"/>
          </a:xfrm>
          <a:prstGeom prst="rect">
            <a:avLst/>
          </a:prstGeom>
          <a:noFill/>
          <a:ln/>
        </p:spPr>
        <p:txBody>
          <a:bodyPr wrap="square" lIns="0" tIns="0" rIns="0" bIns="0" rtlCol="0" anchor="b"/>
          <a:lstStyle/>
          <a:p>
            <a:pPr marL="0" indent="0" algn="l">
              <a:buNone/>
            </a:pPr>
            <a:r>
              <a:rPr lang="en-US" sz="2500" b="1" dirty="0">
                <a:solidFill>
                  <a:srgbClr val="1B7F5C"/>
                </a:solidFill>
                <a:latin typeface="Cambria" pitchFamily="34" charset="0"/>
                <a:ea typeface="Cambria" pitchFamily="34" charset="-122"/>
                <a:cs typeface="Cambria" pitchFamily="34" charset="-120"/>
              </a:rPr>
              <a:t>121.28%</a:t>
            </a:r>
            <a:endParaRPr lang="en-US" sz="2500" dirty="0"/>
          </a:p>
        </p:txBody>
      </p:sp>
      <p:sp>
        <p:nvSpPr>
          <p:cNvPr id="9" name="Text 7"/>
          <p:cNvSpPr/>
          <p:nvPr/>
        </p:nvSpPr>
        <p:spPr>
          <a:xfrm>
            <a:off x="2962656" y="2596896"/>
            <a:ext cx="1828800" cy="365760"/>
          </a:xfrm>
          <a:prstGeom prst="rect">
            <a:avLst/>
          </a:prstGeom>
          <a:noFill/>
          <a:ln/>
        </p:spPr>
        <p:txBody>
          <a:bodyPr wrap="square" lIns="0" tIns="0" rIns="0" bIns="0" rtlCol="0" anchor="t"/>
          <a:lstStyle/>
          <a:p>
            <a:pPr marL="0" indent="0" algn="l">
              <a:buNone/>
            </a:pPr>
            <a:r>
              <a:rPr lang="en-US" sz="1050" dirty="0">
                <a:solidFill>
                  <a:srgbClr val="5B6178"/>
                </a:solidFill>
                <a:latin typeface="Calibri" pitchFamily="34" charset="0"/>
                <a:ea typeface="Calibri" pitchFamily="34" charset="-122"/>
                <a:cs typeface="Calibri" pitchFamily="34" charset="-120"/>
              </a:rPr>
              <a:t>Madurai — highest city ISU%</a:t>
            </a:r>
            <a:endParaRPr lang="en-US" sz="1050" dirty="0"/>
          </a:p>
        </p:txBody>
      </p:sp>
      <p:sp>
        <p:nvSpPr>
          <p:cNvPr id="10" name="Shape 8"/>
          <p:cNvSpPr/>
          <p:nvPr/>
        </p:nvSpPr>
        <p:spPr>
          <a:xfrm>
            <a:off x="5102352" y="1417320"/>
            <a:ext cx="2103120" cy="1600200"/>
          </a:xfrm>
          <a:prstGeom prst="roundRect">
            <a:avLst>
              <a:gd name="adj" fmla="val 4571"/>
            </a:avLst>
          </a:prstGeom>
          <a:solidFill>
            <a:srgbClr val="FFFFFF"/>
          </a:solidFill>
          <a:ln w="12700">
            <a:solidFill>
              <a:srgbClr val="E3E7F1"/>
            </a:solidFill>
            <a:prstDash val="solid"/>
          </a:ln>
          <a:effectLst>
            <a:outerShdw blurRad="76200" dist="25400" dir="5400000" algn="bl" rotWithShape="0">
              <a:srgbClr val="9AA5C7">
                <a:alpha val="35000"/>
              </a:srgbClr>
            </a:outerShdw>
          </a:effectLst>
        </p:spPr>
        <p:txBody>
          <a:bodyPr/>
          <a:lstStyle/>
          <a:p>
            <a:endParaRPr lang="en-IN"/>
          </a:p>
        </p:txBody>
      </p:sp>
      <p:sp>
        <p:nvSpPr>
          <p:cNvPr id="11" name="Text 9"/>
          <p:cNvSpPr/>
          <p:nvPr/>
        </p:nvSpPr>
        <p:spPr>
          <a:xfrm>
            <a:off x="5239512" y="1545336"/>
            <a:ext cx="1828800" cy="1033272"/>
          </a:xfrm>
          <a:prstGeom prst="rect">
            <a:avLst/>
          </a:prstGeom>
          <a:noFill/>
          <a:ln/>
        </p:spPr>
        <p:txBody>
          <a:bodyPr wrap="square" lIns="0" tIns="0" rIns="0" bIns="0" rtlCol="0" anchor="b"/>
          <a:lstStyle/>
          <a:p>
            <a:pPr marL="0" indent="0" algn="l">
              <a:buNone/>
            </a:pPr>
            <a:r>
              <a:rPr lang="en-US" sz="2500" b="1" dirty="0">
                <a:solidFill>
                  <a:srgbClr val="1B7F5C"/>
                </a:solidFill>
                <a:latin typeface="Cambria" pitchFamily="34" charset="0"/>
                <a:ea typeface="Cambria" pitchFamily="34" charset="-122"/>
                <a:cs typeface="Cambria" pitchFamily="34" charset="-120"/>
              </a:rPr>
              <a:t>252.83%</a:t>
            </a:r>
            <a:endParaRPr lang="en-US" sz="2500" dirty="0"/>
          </a:p>
        </p:txBody>
      </p:sp>
      <p:sp>
        <p:nvSpPr>
          <p:cNvPr id="12" name="Text 10"/>
          <p:cNvSpPr/>
          <p:nvPr/>
        </p:nvSpPr>
        <p:spPr>
          <a:xfrm>
            <a:off x="5239512" y="2596896"/>
            <a:ext cx="1828800" cy="365760"/>
          </a:xfrm>
          <a:prstGeom prst="rect">
            <a:avLst/>
          </a:prstGeom>
          <a:noFill/>
          <a:ln/>
        </p:spPr>
        <p:txBody>
          <a:bodyPr wrap="square" lIns="0" tIns="0" rIns="0" bIns="0" rtlCol="0" anchor="t"/>
          <a:lstStyle/>
          <a:p>
            <a:pPr marL="0" indent="0" algn="l">
              <a:buNone/>
            </a:pPr>
            <a:r>
              <a:rPr lang="en-US" sz="1050" dirty="0">
                <a:solidFill>
                  <a:srgbClr val="5B6178"/>
                </a:solidFill>
                <a:latin typeface="Calibri" pitchFamily="34" charset="0"/>
                <a:ea typeface="Calibri" pitchFamily="34" charset="-122"/>
                <a:cs typeface="Calibri" pitchFamily="34" charset="-120"/>
              </a:rPr>
              <a:t>Hyderabad — BOGOF, highest ISU%</a:t>
            </a:r>
            <a:endParaRPr lang="en-US" sz="1050" dirty="0"/>
          </a:p>
        </p:txBody>
      </p:sp>
      <p:sp>
        <p:nvSpPr>
          <p:cNvPr id="13" name="Shape 11"/>
          <p:cNvSpPr/>
          <p:nvPr/>
        </p:nvSpPr>
        <p:spPr>
          <a:xfrm>
            <a:off x="7379208" y="1417320"/>
            <a:ext cx="2103120" cy="1600200"/>
          </a:xfrm>
          <a:prstGeom prst="roundRect">
            <a:avLst>
              <a:gd name="adj" fmla="val 4571"/>
            </a:avLst>
          </a:prstGeom>
          <a:solidFill>
            <a:srgbClr val="FFFFFF"/>
          </a:solidFill>
          <a:ln w="12700">
            <a:solidFill>
              <a:srgbClr val="E3E7F1"/>
            </a:solidFill>
            <a:prstDash val="solid"/>
          </a:ln>
          <a:effectLst>
            <a:outerShdw blurRad="76200" dist="25400" dir="5400000" algn="bl" rotWithShape="0">
              <a:srgbClr val="9AA5C7">
                <a:alpha val="35000"/>
              </a:srgbClr>
            </a:outerShdw>
          </a:effectLst>
        </p:spPr>
        <p:txBody>
          <a:bodyPr/>
          <a:lstStyle/>
          <a:p>
            <a:endParaRPr lang="en-IN"/>
          </a:p>
        </p:txBody>
      </p:sp>
      <p:sp>
        <p:nvSpPr>
          <p:cNvPr id="14" name="Text 12"/>
          <p:cNvSpPr/>
          <p:nvPr/>
        </p:nvSpPr>
        <p:spPr>
          <a:xfrm>
            <a:off x="7516368" y="1545336"/>
            <a:ext cx="1828800" cy="1033272"/>
          </a:xfrm>
          <a:prstGeom prst="rect">
            <a:avLst/>
          </a:prstGeom>
          <a:noFill/>
          <a:ln/>
        </p:spPr>
        <p:txBody>
          <a:bodyPr wrap="square" lIns="0" tIns="0" rIns="0" bIns="0" rtlCol="0" anchor="b"/>
          <a:lstStyle/>
          <a:p>
            <a:pPr marL="0" indent="0" algn="l">
              <a:buNone/>
            </a:pPr>
            <a:r>
              <a:rPr lang="en-US" sz="2500" b="1" dirty="0">
                <a:solidFill>
                  <a:srgbClr val="C99A3A"/>
                </a:solidFill>
                <a:latin typeface="Cambria" pitchFamily="34" charset="0"/>
                <a:ea typeface="Cambria" pitchFamily="34" charset="-122"/>
                <a:cs typeface="Cambria" pitchFamily="34" charset="-120"/>
              </a:rPr>
              <a:t>122.82%</a:t>
            </a:r>
            <a:endParaRPr lang="en-US" sz="2500" dirty="0"/>
          </a:p>
        </p:txBody>
      </p:sp>
      <p:sp>
        <p:nvSpPr>
          <p:cNvPr id="15" name="Text 13"/>
          <p:cNvSpPr/>
          <p:nvPr/>
        </p:nvSpPr>
        <p:spPr>
          <a:xfrm>
            <a:off x="7516368" y="2596896"/>
            <a:ext cx="1828800" cy="365760"/>
          </a:xfrm>
          <a:prstGeom prst="rect">
            <a:avLst/>
          </a:prstGeom>
          <a:noFill/>
          <a:ln/>
        </p:spPr>
        <p:txBody>
          <a:bodyPr wrap="square" lIns="0" tIns="0" rIns="0" bIns="0" rtlCol="0" anchor="t"/>
          <a:lstStyle/>
          <a:p>
            <a:pPr marL="0" indent="0" algn="l">
              <a:buNone/>
            </a:pPr>
            <a:r>
              <a:rPr lang="en-US" sz="1050" dirty="0">
                <a:solidFill>
                  <a:srgbClr val="5B6178"/>
                </a:solidFill>
                <a:latin typeface="Calibri" pitchFamily="34" charset="0"/>
                <a:ea typeface="Calibri" pitchFamily="34" charset="-122"/>
                <a:cs typeface="Calibri" pitchFamily="34" charset="-120"/>
              </a:rPr>
              <a:t>Hyderabad — 500 Cashback, highest IR%</a:t>
            </a:r>
            <a:endParaRPr lang="en-US" sz="1050" dirty="0"/>
          </a:p>
        </p:txBody>
      </p:sp>
      <p:sp>
        <p:nvSpPr>
          <p:cNvPr id="16" name="Shape 14"/>
          <p:cNvSpPr/>
          <p:nvPr/>
        </p:nvSpPr>
        <p:spPr>
          <a:xfrm>
            <a:off x="9656064" y="1417320"/>
            <a:ext cx="2103120" cy="1600200"/>
          </a:xfrm>
          <a:prstGeom prst="roundRect">
            <a:avLst>
              <a:gd name="adj" fmla="val 4571"/>
            </a:avLst>
          </a:prstGeom>
          <a:solidFill>
            <a:srgbClr val="FFFFFF"/>
          </a:solidFill>
          <a:ln w="12700">
            <a:solidFill>
              <a:srgbClr val="E3E7F1"/>
            </a:solidFill>
            <a:prstDash val="solid"/>
          </a:ln>
          <a:effectLst>
            <a:outerShdw blurRad="76200" dist="25400" dir="5400000" algn="bl" rotWithShape="0">
              <a:srgbClr val="9AA5C7">
                <a:alpha val="35000"/>
              </a:srgbClr>
            </a:outerShdw>
          </a:effectLst>
        </p:spPr>
        <p:txBody>
          <a:bodyPr/>
          <a:lstStyle/>
          <a:p>
            <a:endParaRPr lang="en-IN"/>
          </a:p>
        </p:txBody>
      </p:sp>
      <p:sp>
        <p:nvSpPr>
          <p:cNvPr id="17" name="Text 15"/>
          <p:cNvSpPr/>
          <p:nvPr/>
        </p:nvSpPr>
        <p:spPr>
          <a:xfrm>
            <a:off x="9793224" y="1545336"/>
            <a:ext cx="1828800" cy="1033272"/>
          </a:xfrm>
          <a:prstGeom prst="rect">
            <a:avLst/>
          </a:prstGeom>
          <a:noFill/>
          <a:ln/>
        </p:spPr>
        <p:txBody>
          <a:bodyPr wrap="square" lIns="0" tIns="0" rIns="0" bIns="0" rtlCol="0" anchor="b"/>
          <a:lstStyle/>
          <a:p>
            <a:pPr marL="0" indent="0" algn="l">
              <a:buNone/>
            </a:pPr>
            <a:r>
              <a:rPr lang="en-US" sz="2500" b="1" dirty="0">
                <a:solidFill>
                  <a:srgbClr val="1B7F5C"/>
                </a:solidFill>
                <a:latin typeface="Cambria" pitchFamily="34" charset="0"/>
                <a:ea typeface="Cambria" pitchFamily="34" charset="-122"/>
                <a:cs typeface="Cambria" pitchFamily="34" charset="-120"/>
              </a:rPr>
              <a:t>~83.90%</a:t>
            </a:r>
            <a:endParaRPr lang="en-US" sz="2500" dirty="0"/>
          </a:p>
        </p:txBody>
      </p:sp>
      <p:sp>
        <p:nvSpPr>
          <p:cNvPr id="18" name="Text 16"/>
          <p:cNvSpPr/>
          <p:nvPr/>
        </p:nvSpPr>
        <p:spPr>
          <a:xfrm>
            <a:off x="9793224" y="2596896"/>
            <a:ext cx="1828800" cy="365760"/>
          </a:xfrm>
          <a:prstGeom prst="rect">
            <a:avLst/>
          </a:prstGeom>
          <a:noFill/>
          <a:ln/>
        </p:spPr>
        <p:txBody>
          <a:bodyPr wrap="square" lIns="0" tIns="0" rIns="0" bIns="0" rtlCol="0" anchor="t"/>
          <a:lstStyle/>
          <a:p>
            <a:pPr marL="0" indent="0" algn="l">
              <a:buNone/>
            </a:pPr>
            <a:r>
              <a:rPr lang="en-US" sz="1050" dirty="0">
                <a:solidFill>
                  <a:srgbClr val="5B6178"/>
                </a:solidFill>
                <a:latin typeface="Calibri" pitchFamily="34" charset="0"/>
                <a:ea typeface="Calibri" pitchFamily="34" charset="-122"/>
                <a:cs typeface="Calibri" pitchFamily="34" charset="-120"/>
              </a:rPr>
              <a:t>Bengaluru overall revenue growth</a:t>
            </a:r>
            <a:endParaRPr lang="en-US" sz="1050" dirty="0"/>
          </a:p>
        </p:txBody>
      </p:sp>
      <p:sp>
        <p:nvSpPr>
          <p:cNvPr id="19" name="Shape 17"/>
          <p:cNvSpPr/>
          <p:nvPr/>
        </p:nvSpPr>
        <p:spPr>
          <a:xfrm>
            <a:off x="548640" y="3429000"/>
            <a:ext cx="11091672" cy="1874520"/>
          </a:xfrm>
          <a:prstGeom prst="roundRect">
            <a:avLst>
              <a:gd name="adj" fmla="val 3902"/>
            </a:avLst>
          </a:prstGeom>
          <a:solidFill>
            <a:srgbClr val="F5F7FB"/>
          </a:solidFill>
          <a:ln w="12700">
            <a:solidFill>
              <a:srgbClr val="E3E7F1"/>
            </a:solidFill>
            <a:prstDash val="solid"/>
          </a:ln>
        </p:spPr>
        <p:txBody>
          <a:bodyPr/>
          <a:lstStyle/>
          <a:p>
            <a:endParaRPr lang="en-IN"/>
          </a:p>
        </p:txBody>
      </p:sp>
      <p:sp>
        <p:nvSpPr>
          <p:cNvPr id="20" name="Text 18"/>
          <p:cNvSpPr/>
          <p:nvPr/>
        </p:nvSpPr>
        <p:spPr>
          <a:xfrm>
            <a:off x="868680" y="3639312"/>
            <a:ext cx="7315200" cy="274320"/>
          </a:xfrm>
          <a:prstGeom prst="rect">
            <a:avLst/>
          </a:prstGeom>
          <a:noFill/>
          <a:ln/>
        </p:spPr>
        <p:txBody>
          <a:bodyPr wrap="square" lIns="0" tIns="0" rIns="0" bIns="0" rtlCol="0" anchor="ctr"/>
          <a:lstStyle/>
          <a:p>
            <a:pPr marL="0" indent="0">
              <a:buNone/>
            </a:pPr>
            <a:r>
              <a:rPr lang="en-US" sz="1100" b="1" kern="0" spc="120" dirty="0">
                <a:solidFill>
                  <a:srgbClr val="C99A3A"/>
                </a:solidFill>
                <a:latin typeface="Calibri" pitchFamily="34" charset="0"/>
                <a:ea typeface="Calibri" pitchFamily="34" charset="-122"/>
                <a:cs typeface="Calibri" pitchFamily="34" charset="-120"/>
              </a:rPr>
              <a:t>THE STORY IN ONE LINE</a:t>
            </a:r>
            <a:endParaRPr lang="en-US" sz="1100" dirty="0"/>
          </a:p>
        </p:txBody>
      </p:sp>
      <p:sp>
        <p:nvSpPr>
          <p:cNvPr id="21" name="Text 19"/>
          <p:cNvSpPr/>
          <p:nvPr/>
        </p:nvSpPr>
        <p:spPr>
          <a:xfrm>
            <a:off x="868680" y="3950208"/>
            <a:ext cx="10424160" cy="1188720"/>
          </a:xfrm>
          <a:prstGeom prst="rect">
            <a:avLst/>
          </a:prstGeom>
          <a:noFill/>
          <a:ln/>
        </p:spPr>
        <p:txBody>
          <a:bodyPr wrap="square" lIns="0" tIns="0" rIns="0" bIns="0" rtlCol="0" anchor="t"/>
          <a:lstStyle/>
          <a:p>
            <a:pPr marL="0" indent="0">
              <a:lnSpc>
                <a:spcPct val="125000"/>
              </a:lnSpc>
              <a:buNone/>
            </a:pPr>
            <a:r>
              <a:rPr lang="en-US" sz="1700" i="1" dirty="0">
                <a:solidFill>
                  <a:srgbClr val="1B1F3B"/>
                </a:solidFill>
                <a:latin typeface="Cambria" pitchFamily="34" charset="0"/>
                <a:ea typeface="Cambria" pitchFamily="34" charset="-122"/>
                <a:cs typeface="Cambria" pitchFamily="34" charset="-120"/>
              </a:rPr>
              <a:t>The Diwali and Sankranti promotions were broadly effective in increasing sales volume and revenue, but their effectiveness varied significantly by product category, city, and promotion type. A single, uniform promotional strategy is leaving measurable value on the table.</a:t>
            </a:r>
            <a:endParaRPr lang="en-US" sz="1700" dirty="0"/>
          </a:p>
        </p:txBody>
      </p:sp>
      <p:sp>
        <p:nvSpPr>
          <p:cNvPr id="22" name="Text 20"/>
          <p:cNvSpPr/>
          <p:nvPr/>
        </p:nvSpPr>
        <p:spPr>
          <a:xfrm>
            <a:off x="548640" y="5532120"/>
            <a:ext cx="11064240" cy="365760"/>
          </a:xfrm>
          <a:prstGeom prst="rect">
            <a:avLst/>
          </a:prstGeom>
          <a:noFill/>
          <a:ln/>
        </p:spPr>
        <p:txBody>
          <a:bodyPr wrap="square" lIns="0" tIns="0" rIns="0" bIns="0" rtlCol="0" anchor="ctr"/>
          <a:lstStyle/>
          <a:p>
            <a:pPr marL="0" indent="0">
              <a:buNone/>
            </a:pPr>
            <a:r>
              <a:rPr lang="en-US" sz="1050" dirty="0">
                <a:solidFill>
                  <a:srgbClr val="5B6178"/>
                </a:solidFill>
                <a:latin typeface="Calibri" pitchFamily="34" charset="0"/>
                <a:ea typeface="Calibri" pitchFamily="34" charset="-122"/>
                <a:cs typeface="Calibri" pitchFamily="34" charset="-120"/>
              </a:rPr>
              <a:t>Scope: Store network across 10 South Indian cities  |  5 product categories  |  5 promotion types  |  Sources: df_camp, df_pro, df_stores, df_fact_events</a:t>
            </a:r>
            <a:endParaRPr lang="en-US" sz="1050" dirty="0"/>
          </a:p>
        </p:txBody>
      </p:sp>
      <p:sp>
        <p:nvSpPr>
          <p:cNvPr id="23" name="Text 21"/>
          <p:cNvSpPr/>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5B6178"/>
                </a:solidFill>
                <a:latin typeface="Calibri" pitchFamily="34" charset="0"/>
                <a:ea typeface="Calibri" pitchFamily="34" charset="-122"/>
                <a:cs typeface="Calibri" pitchFamily="34" charset="-120"/>
              </a:rPr>
              <a:t>Nova Mart Campaign Performance Analysis</a:t>
            </a:r>
            <a:endParaRPr lang="en-US" sz="900" dirty="0"/>
          </a:p>
        </p:txBody>
      </p:sp>
      <p:sp>
        <p:nvSpPr>
          <p:cNvPr id="24" name="Text 22"/>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5B61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150" dirty="0">
                <a:solidFill>
                  <a:srgbClr val="C99A3A"/>
                </a:solidFill>
                <a:latin typeface="Calibri" pitchFamily="34" charset="0"/>
                <a:ea typeface="Calibri" pitchFamily="34" charset="-122"/>
                <a:cs typeface="Calibri" pitchFamily="34" charset="-120"/>
              </a:rPr>
              <a:t>Q1 · STORE FOOTPRINT</a:t>
            </a:r>
            <a:endParaRPr lang="en-US" sz="1200" dirty="0"/>
          </a:p>
        </p:txBody>
      </p:sp>
      <p:sp>
        <p:nvSpPr>
          <p:cNvPr id="3" name="Text 1"/>
          <p:cNvSpPr/>
          <p:nvPr/>
        </p:nvSpPr>
        <p:spPr>
          <a:xfrm>
            <a:off x="548640" y="566928"/>
            <a:ext cx="11064240" cy="59436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Store Network Spans Ten Cities Across South India</a:t>
            </a:r>
            <a:endParaRPr lang="en-US" sz="2800" dirty="0"/>
          </a:p>
        </p:txBody>
      </p:sp>
      <p:sp>
        <p:nvSpPr>
          <p:cNvPr id="4" name="Shape 2"/>
          <p:cNvSpPr/>
          <p:nvPr/>
        </p:nvSpPr>
        <p:spPr>
          <a:xfrm>
            <a:off x="548640" y="1554480"/>
            <a:ext cx="2139696" cy="960120"/>
          </a:xfrm>
          <a:prstGeom prst="roundRect">
            <a:avLst>
              <a:gd name="adj" fmla="val 6667"/>
            </a:avLst>
          </a:prstGeom>
          <a:solidFill>
            <a:srgbClr val="1E2761"/>
          </a:solidFill>
          <a:ln w="12700">
            <a:solidFill>
              <a:srgbClr val="1E2761"/>
            </a:solidFill>
            <a:prstDash val="solid"/>
          </a:ln>
        </p:spPr>
        <p:txBody>
          <a:bodyPr/>
          <a:lstStyle/>
          <a:p>
            <a:endParaRPr lang="en-IN"/>
          </a:p>
        </p:txBody>
      </p:sp>
      <p:sp>
        <p:nvSpPr>
          <p:cNvPr id="5" name="Text 3"/>
          <p:cNvSpPr/>
          <p:nvPr/>
        </p:nvSpPr>
        <p:spPr>
          <a:xfrm>
            <a:off x="658368" y="1554480"/>
            <a:ext cx="1920240" cy="960120"/>
          </a:xfrm>
          <a:prstGeom prst="rect">
            <a:avLst/>
          </a:prstGeom>
          <a:noFill/>
          <a:ln/>
        </p:spPr>
        <p:txBody>
          <a:bodyPr wrap="square" lIns="0" tIns="0" rIns="0" bIns="0" rtlCol="0" anchor="ctr"/>
          <a:lstStyle/>
          <a:p>
            <a:pPr marL="0" indent="0" algn="l">
              <a:buNone/>
            </a:pPr>
            <a:r>
              <a:rPr lang="en-US" sz="1350" b="1" dirty="0">
                <a:solidFill>
                  <a:srgbClr val="FFFFFF"/>
                </a:solidFill>
                <a:latin typeface="Calibri" pitchFamily="34" charset="0"/>
                <a:ea typeface="Calibri" pitchFamily="34" charset="-122"/>
                <a:cs typeface="Calibri" pitchFamily="34" charset="-120"/>
              </a:rPr>
              <a:t>Bengaluru</a:t>
            </a:r>
            <a:endParaRPr lang="en-US" sz="1350" dirty="0"/>
          </a:p>
        </p:txBody>
      </p:sp>
      <p:sp>
        <p:nvSpPr>
          <p:cNvPr id="6" name="Text 4"/>
          <p:cNvSpPr/>
          <p:nvPr/>
        </p:nvSpPr>
        <p:spPr>
          <a:xfrm>
            <a:off x="658368" y="2221992"/>
            <a:ext cx="1920240" cy="237744"/>
          </a:xfrm>
          <a:prstGeom prst="rect">
            <a:avLst/>
          </a:prstGeom>
          <a:noFill/>
          <a:ln/>
        </p:spPr>
        <p:txBody>
          <a:bodyPr wrap="square" lIns="0" tIns="0" rIns="0" bIns="0" rtlCol="0" anchor="ctr"/>
          <a:lstStyle/>
          <a:p>
            <a:pPr marL="0" indent="0" algn="l">
              <a:buNone/>
            </a:pPr>
            <a:r>
              <a:rPr lang="en-US" sz="850" b="1" kern="0" spc="100" dirty="0">
                <a:solidFill>
                  <a:srgbClr val="CADCFC"/>
                </a:solidFill>
                <a:latin typeface="Calibri" pitchFamily="34" charset="0"/>
                <a:ea typeface="Calibri" pitchFamily="34" charset="-122"/>
                <a:cs typeface="Calibri" pitchFamily="34" charset="-120"/>
              </a:rPr>
              <a:t>KEY METRO</a:t>
            </a:r>
            <a:endParaRPr lang="en-US" sz="850" dirty="0"/>
          </a:p>
        </p:txBody>
      </p:sp>
      <p:sp>
        <p:nvSpPr>
          <p:cNvPr id="7" name="Shape 5"/>
          <p:cNvSpPr/>
          <p:nvPr/>
        </p:nvSpPr>
        <p:spPr>
          <a:xfrm>
            <a:off x="2811780" y="1554480"/>
            <a:ext cx="2139696" cy="960120"/>
          </a:xfrm>
          <a:prstGeom prst="roundRect">
            <a:avLst>
              <a:gd name="adj" fmla="val 6667"/>
            </a:avLst>
          </a:prstGeom>
          <a:solidFill>
            <a:srgbClr val="1E2761"/>
          </a:solidFill>
          <a:ln w="12700">
            <a:solidFill>
              <a:srgbClr val="1E2761"/>
            </a:solidFill>
            <a:prstDash val="solid"/>
          </a:ln>
        </p:spPr>
        <p:txBody>
          <a:bodyPr/>
          <a:lstStyle/>
          <a:p>
            <a:endParaRPr lang="en-IN"/>
          </a:p>
        </p:txBody>
      </p:sp>
      <p:sp>
        <p:nvSpPr>
          <p:cNvPr id="8" name="Text 6"/>
          <p:cNvSpPr/>
          <p:nvPr/>
        </p:nvSpPr>
        <p:spPr>
          <a:xfrm>
            <a:off x="2921508" y="1554480"/>
            <a:ext cx="1920240" cy="960120"/>
          </a:xfrm>
          <a:prstGeom prst="rect">
            <a:avLst/>
          </a:prstGeom>
          <a:noFill/>
          <a:ln/>
        </p:spPr>
        <p:txBody>
          <a:bodyPr wrap="square" lIns="0" tIns="0" rIns="0" bIns="0" rtlCol="0" anchor="ctr"/>
          <a:lstStyle/>
          <a:p>
            <a:pPr marL="0" indent="0" algn="l">
              <a:buNone/>
            </a:pPr>
            <a:r>
              <a:rPr lang="en-US" sz="1350" b="1" dirty="0">
                <a:solidFill>
                  <a:srgbClr val="FFFFFF"/>
                </a:solidFill>
                <a:latin typeface="Calibri" pitchFamily="34" charset="0"/>
                <a:ea typeface="Calibri" pitchFamily="34" charset="-122"/>
                <a:cs typeface="Calibri" pitchFamily="34" charset="-120"/>
              </a:rPr>
              <a:t>Chennai</a:t>
            </a:r>
            <a:endParaRPr lang="en-US" sz="1350" dirty="0"/>
          </a:p>
        </p:txBody>
      </p:sp>
      <p:sp>
        <p:nvSpPr>
          <p:cNvPr id="9" name="Text 7"/>
          <p:cNvSpPr/>
          <p:nvPr/>
        </p:nvSpPr>
        <p:spPr>
          <a:xfrm>
            <a:off x="2921508" y="2221992"/>
            <a:ext cx="1920240" cy="237744"/>
          </a:xfrm>
          <a:prstGeom prst="rect">
            <a:avLst/>
          </a:prstGeom>
          <a:noFill/>
          <a:ln/>
        </p:spPr>
        <p:txBody>
          <a:bodyPr wrap="square" lIns="0" tIns="0" rIns="0" bIns="0" rtlCol="0" anchor="ctr"/>
          <a:lstStyle/>
          <a:p>
            <a:pPr marL="0" indent="0" algn="l">
              <a:buNone/>
            </a:pPr>
            <a:r>
              <a:rPr lang="en-US" sz="850" b="1" kern="0" spc="100" dirty="0">
                <a:solidFill>
                  <a:srgbClr val="CADCFC"/>
                </a:solidFill>
                <a:latin typeface="Calibri" pitchFamily="34" charset="0"/>
                <a:ea typeface="Calibri" pitchFamily="34" charset="-122"/>
                <a:cs typeface="Calibri" pitchFamily="34" charset="-120"/>
              </a:rPr>
              <a:t>KEY METRO</a:t>
            </a:r>
            <a:endParaRPr lang="en-US" sz="850" dirty="0"/>
          </a:p>
        </p:txBody>
      </p:sp>
      <p:sp>
        <p:nvSpPr>
          <p:cNvPr id="10" name="Shape 8"/>
          <p:cNvSpPr/>
          <p:nvPr/>
        </p:nvSpPr>
        <p:spPr>
          <a:xfrm>
            <a:off x="5074920" y="1554480"/>
            <a:ext cx="2139696" cy="960120"/>
          </a:xfrm>
          <a:prstGeom prst="roundRect">
            <a:avLst>
              <a:gd name="adj" fmla="val 6667"/>
            </a:avLst>
          </a:prstGeom>
          <a:solidFill>
            <a:srgbClr val="1E2761"/>
          </a:solidFill>
          <a:ln w="12700">
            <a:solidFill>
              <a:srgbClr val="1E2761"/>
            </a:solidFill>
            <a:prstDash val="solid"/>
          </a:ln>
        </p:spPr>
        <p:txBody>
          <a:bodyPr/>
          <a:lstStyle/>
          <a:p>
            <a:endParaRPr lang="en-IN"/>
          </a:p>
        </p:txBody>
      </p:sp>
      <p:sp>
        <p:nvSpPr>
          <p:cNvPr id="11" name="Text 9"/>
          <p:cNvSpPr/>
          <p:nvPr/>
        </p:nvSpPr>
        <p:spPr>
          <a:xfrm>
            <a:off x="5184648" y="1554480"/>
            <a:ext cx="1920240" cy="960120"/>
          </a:xfrm>
          <a:prstGeom prst="rect">
            <a:avLst/>
          </a:prstGeom>
          <a:noFill/>
          <a:ln/>
        </p:spPr>
        <p:txBody>
          <a:bodyPr wrap="square" lIns="0" tIns="0" rIns="0" bIns="0" rtlCol="0" anchor="ctr"/>
          <a:lstStyle/>
          <a:p>
            <a:pPr marL="0" indent="0" algn="l">
              <a:buNone/>
            </a:pPr>
            <a:r>
              <a:rPr lang="en-US" sz="1350" b="1" dirty="0">
                <a:solidFill>
                  <a:srgbClr val="FFFFFF"/>
                </a:solidFill>
                <a:latin typeface="Calibri" pitchFamily="34" charset="0"/>
                <a:ea typeface="Calibri" pitchFamily="34" charset="-122"/>
                <a:cs typeface="Calibri" pitchFamily="34" charset="-120"/>
              </a:rPr>
              <a:t>Hyderabad</a:t>
            </a:r>
            <a:endParaRPr lang="en-US" sz="1350" dirty="0"/>
          </a:p>
        </p:txBody>
      </p:sp>
      <p:sp>
        <p:nvSpPr>
          <p:cNvPr id="12" name="Text 10"/>
          <p:cNvSpPr/>
          <p:nvPr/>
        </p:nvSpPr>
        <p:spPr>
          <a:xfrm>
            <a:off x="5184648" y="2221992"/>
            <a:ext cx="1920240" cy="237744"/>
          </a:xfrm>
          <a:prstGeom prst="rect">
            <a:avLst/>
          </a:prstGeom>
          <a:noFill/>
          <a:ln/>
        </p:spPr>
        <p:txBody>
          <a:bodyPr wrap="square" lIns="0" tIns="0" rIns="0" bIns="0" rtlCol="0" anchor="ctr"/>
          <a:lstStyle/>
          <a:p>
            <a:pPr marL="0" indent="0" algn="l">
              <a:buNone/>
            </a:pPr>
            <a:r>
              <a:rPr lang="en-US" sz="850" b="1" kern="0" spc="100" dirty="0">
                <a:solidFill>
                  <a:srgbClr val="CADCFC"/>
                </a:solidFill>
                <a:latin typeface="Calibri" pitchFamily="34" charset="0"/>
                <a:ea typeface="Calibri" pitchFamily="34" charset="-122"/>
                <a:cs typeface="Calibri" pitchFamily="34" charset="-120"/>
              </a:rPr>
              <a:t>KEY METRO</a:t>
            </a:r>
            <a:endParaRPr lang="en-US" sz="850" dirty="0"/>
          </a:p>
        </p:txBody>
      </p:sp>
      <p:sp>
        <p:nvSpPr>
          <p:cNvPr id="13" name="Shape 11"/>
          <p:cNvSpPr/>
          <p:nvPr/>
        </p:nvSpPr>
        <p:spPr>
          <a:xfrm>
            <a:off x="7338060" y="1554480"/>
            <a:ext cx="2139696" cy="960120"/>
          </a:xfrm>
          <a:prstGeom prst="roundRect">
            <a:avLst>
              <a:gd name="adj" fmla="val 6667"/>
            </a:avLst>
          </a:prstGeom>
          <a:solidFill>
            <a:srgbClr val="F5F7FB"/>
          </a:solidFill>
          <a:ln w="12700">
            <a:solidFill>
              <a:srgbClr val="E3E7F1"/>
            </a:solidFill>
            <a:prstDash val="solid"/>
          </a:ln>
        </p:spPr>
        <p:txBody>
          <a:bodyPr/>
          <a:lstStyle/>
          <a:p>
            <a:endParaRPr lang="en-IN"/>
          </a:p>
        </p:txBody>
      </p:sp>
      <p:sp>
        <p:nvSpPr>
          <p:cNvPr id="14" name="Text 12"/>
          <p:cNvSpPr/>
          <p:nvPr/>
        </p:nvSpPr>
        <p:spPr>
          <a:xfrm>
            <a:off x="7447788" y="1554480"/>
            <a:ext cx="1920240" cy="960120"/>
          </a:xfrm>
          <a:prstGeom prst="rect">
            <a:avLst/>
          </a:prstGeom>
          <a:noFill/>
          <a:ln/>
        </p:spPr>
        <p:txBody>
          <a:bodyPr wrap="square" lIns="0" tIns="0" rIns="0" bIns="0" rtlCol="0" anchor="ctr"/>
          <a:lstStyle/>
          <a:p>
            <a:pPr marL="0" indent="0" algn="l">
              <a:buNone/>
            </a:pPr>
            <a:r>
              <a:rPr lang="en-US" sz="1350" dirty="0">
                <a:solidFill>
                  <a:srgbClr val="1B1F3B"/>
                </a:solidFill>
                <a:latin typeface="Calibri" pitchFamily="34" charset="0"/>
                <a:ea typeface="Calibri" pitchFamily="34" charset="-122"/>
                <a:cs typeface="Calibri" pitchFamily="34" charset="-120"/>
              </a:rPr>
              <a:t>Coimbatore</a:t>
            </a:r>
            <a:endParaRPr lang="en-US" sz="1350" dirty="0"/>
          </a:p>
        </p:txBody>
      </p:sp>
      <p:sp>
        <p:nvSpPr>
          <p:cNvPr id="15" name="Shape 13"/>
          <p:cNvSpPr/>
          <p:nvPr/>
        </p:nvSpPr>
        <p:spPr>
          <a:xfrm>
            <a:off x="9601200" y="1554480"/>
            <a:ext cx="2139696" cy="960120"/>
          </a:xfrm>
          <a:prstGeom prst="roundRect">
            <a:avLst>
              <a:gd name="adj" fmla="val 6667"/>
            </a:avLst>
          </a:prstGeom>
          <a:solidFill>
            <a:srgbClr val="F5F7FB"/>
          </a:solidFill>
          <a:ln w="12700">
            <a:solidFill>
              <a:srgbClr val="E3E7F1"/>
            </a:solidFill>
            <a:prstDash val="solid"/>
          </a:ln>
        </p:spPr>
        <p:txBody>
          <a:bodyPr/>
          <a:lstStyle/>
          <a:p>
            <a:endParaRPr lang="en-IN"/>
          </a:p>
        </p:txBody>
      </p:sp>
      <p:sp>
        <p:nvSpPr>
          <p:cNvPr id="16" name="Text 14"/>
          <p:cNvSpPr/>
          <p:nvPr/>
        </p:nvSpPr>
        <p:spPr>
          <a:xfrm>
            <a:off x="9710928" y="1554480"/>
            <a:ext cx="1920240" cy="960120"/>
          </a:xfrm>
          <a:prstGeom prst="rect">
            <a:avLst/>
          </a:prstGeom>
          <a:noFill/>
          <a:ln/>
        </p:spPr>
        <p:txBody>
          <a:bodyPr wrap="square" lIns="0" tIns="0" rIns="0" bIns="0" rtlCol="0" anchor="ctr"/>
          <a:lstStyle/>
          <a:p>
            <a:pPr marL="0" indent="0" algn="l">
              <a:buNone/>
            </a:pPr>
            <a:r>
              <a:rPr lang="en-US" sz="1350" dirty="0">
                <a:solidFill>
                  <a:srgbClr val="1B1F3B"/>
                </a:solidFill>
                <a:latin typeface="Calibri" pitchFamily="34" charset="0"/>
                <a:ea typeface="Calibri" pitchFamily="34" charset="-122"/>
                <a:cs typeface="Calibri" pitchFamily="34" charset="-120"/>
              </a:rPr>
              <a:t>Madurai</a:t>
            </a:r>
            <a:endParaRPr lang="en-US" sz="1350" dirty="0"/>
          </a:p>
        </p:txBody>
      </p:sp>
      <p:sp>
        <p:nvSpPr>
          <p:cNvPr id="17" name="Shape 15"/>
          <p:cNvSpPr/>
          <p:nvPr/>
        </p:nvSpPr>
        <p:spPr>
          <a:xfrm>
            <a:off x="548640" y="2715768"/>
            <a:ext cx="2139696" cy="960120"/>
          </a:xfrm>
          <a:prstGeom prst="roundRect">
            <a:avLst>
              <a:gd name="adj" fmla="val 6667"/>
            </a:avLst>
          </a:prstGeom>
          <a:solidFill>
            <a:srgbClr val="F5F7FB"/>
          </a:solidFill>
          <a:ln w="12700">
            <a:solidFill>
              <a:srgbClr val="E3E7F1"/>
            </a:solidFill>
            <a:prstDash val="solid"/>
          </a:ln>
        </p:spPr>
        <p:txBody>
          <a:bodyPr/>
          <a:lstStyle/>
          <a:p>
            <a:endParaRPr lang="en-IN"/>
          </a:p>
        </p:txBody>
      </p:sp>
      <p:sp>
        <p:nvSpPr>
          <p:cNvPr id="18" name="Text 16"/>
          <p:cNvSpPr/>
          <p:nvPr/>
        </p:nvSpPr>
        <p:spPr>
          <a:xfrm>
            <a:off x="658368" y="2715768"/>
            <a:ext cx="1920240" cy="960120"/>
          </a:xfrm>
          <a:prstGeom prst="rect">
            <a:avLst/>
          </a:prstGeom>
          <a:noFill/>
          <a:ln/>
        </p:spPr>
        <p:txBody>
          <a:bodyPr wrap="square" lIns="0" tIns="0" rIns="0" bIns="0" rtlCol="0" anchor="ctr"/>
          <a:lstStyle/>
          <a:p>
            <a:pPr marL="0" indent="0" algn="l">
              <a:buNone/>
            </a:pPr>
            <a:r>
              <a:rPr lang="en-US" sz="1350" dirty="0">
                <a:solidFill>
                  <a:srgbClr val="1B1F3B"/>
                </a:solidFill>
                <a:latin typeface="Calibri" pitchFamily="34" charset="0"/>
                <a:ea typeface="Calibri" pitchFamily="34" charset="-122"/>
                <a:cs typeface="Calibri" pitchFamily="34" charset="-120"/>
              </a:rPr>
              <a:t>Vijayawada</a:t>
            </a:r>
            <a:endParaRPr lang="en-US" sz="1350" dirty="0"/>
          </a:p>
        </p:txBody>
      </p:sp>
      <p:sp>
        <p:nvSpPr>
          <p:cNvPr id="19" name="Shape 17"/>
          <p:cNvSpPr/>
          <p:nvPr/>
        </p:nvSpPr>
        <p:spPr>
          <a:xfrm>
            <a:off x="2811780" y="2715768"/>
            <a:ext cx="2139696" cy="960120"/>
          </a:xfrm>
          <a:prstGeom prst="roundRect">
            <a:avLst>
              <a:gd name="adj" fmla="val 6667"/>
            </a:avLst>
          </a:prstGeom>
          <a:solidFill>
            <a:srgbClr val="F5F7FB"/>
          </a:solidFill>
          <a:ln w="12700">
            <a:solidFill>
              <a:srgbClr val="E3E7F1"/>
            </a:solidFill>
            <a:prstDash val="solid"/>
          </a:ln>
        </p:spPr>
        <p:txBody>
          <a:bodyPr/>
          <a:lstStyle/>
          <a:p>
            <a:endParaRPr lang="en-IN"/>
          </a:p>
        </p:txBody>
      </p:sp>
      <p:sp>
        <p:nvSpPr>
          <p:cNvPr id="20" name="Text 18"/>
          <p:cNvSpPr/>
          <p:nvPr/>
        </p:nvSpPr>
        <p:spPr>
          <a:xfrm>
            <a:off x="2921508" y="2715768"/>
            <a:ext cx="1920240" cy="960120"/>
          </a:xfrm>
          <a:prstGeom prst="rect">
            <a:avLst/>
          </a:prstGeom>
          <a:noFill/>
          <a:ln/>
        </p:spPr>
        <p:txBody>
          <a:bodyPr wrap="square" lIns="0" tIns="0" rIns="0" bIns="0" rtlCol="0" anchor="ctr"/>
          <a:lstStyle/>
          <a:p>
            <a:pPr marL="0" indent="0" algn="l">
              <a:buNone/>
            </a:pPr>
            <a:r>
              <a:rPr lang="en-US" sz="1350" dirty="0">
                <a:solidFill>
                  <a:srgbClr val="1B1F3B"/>
                </a:solidFill>
                <a:latin typeface="Calibri" pitchFamily="34" charset="0"/>
                <a:ea typeface="Calibri" pitchFamily="34" charset="-122"/>
                <a:cs typeface="Calibri" pitchFamily="34" charset="-120"/>
              </a:rPr>
              <a:t>Trivandrum</a:t>
            </a:r>
            <a:endParaRPr lang="en-US" sz="1350" dirty="0"/>
          </a:p>
        </p:txBody>
      </p:sp>
      <p:sp>
        <p:nvSpPr>
          <p:cNvPr id="21" name="Shape 19"/>
          <p:cNvSpPr/>
          <p:nvPr/>
        </p:nvSpPr>
        <p:spPr>
          <a:xfrm>
            <a:off x="5074920" y="2715768"/>
            <a:ext cx="2139696" cy="960120"/>
          </a:xfrm>
          <a:prstGeom prst="roundRect">
            <a:avLst>
              <a:gd name="adj" fmla="val 6667"/>
            </a:avLst>
          </a:prstGeom>
          <a:solidFill>
            <a:srgbClr val="F5F7FB"/>
          </a:solidFill>
          <a:ln w="12700">
            <a:solidFill>
              <a:srgbClr val="E3E7F1"/>
            </a:solidFill>
            <a:prstDash val="solid"/>
          </a:ln>
        </p:spPr>
        <p:txBody>
          <a:bodyPr/>
          <a:lstStyle/>
          <a:p>
            <a:endParaRPr lang="en-IN"/>
          </a:p>
        </p:txBody>
      </p:sp>
      <p:sp>
        <p:nvSpPr>
          <p:cNvPr id="22" name="Text 20"/>
          <p:cNvSpPr/>
          <p:nvPr/>
        </p:nvSpPr>
        <p:spPr>
          <a:xfrm>
            <a:off x="5184648" y="2715768"/>
            <a:ext cx="1920240" cy="960120"/>
          </a:xfrm>
          <a:prstGeom prst="rect">
            <a:avLst/>
          </a:prstGeom>
          <a:noFill/>
          <a:ln/>
        </p:spPr>
        <p:txBody>
          <a:bodyPr wrap="square" lIns="0" tIns="0" rIns="0" bIns="0" rtlCol="0" anchor="ctr"/>
          <a:lstStyle/>
          <a:p>
            <a:pPr marL="0" indent="0" algn="l">
              <a:buNone/>
            </a:pPr>
            <a:r>
              <a:rPr lang="en-US" sz="1350" dirty="0">
                <a:solidFill>
                  <a:srgbClr val="1B1F3B"/>
                </a:solidFill>
                <a:latin typeface="Calibri" pitchFamily="34" charset="0"/>
                <a:ea typeface="Calibri" pitchFamily="34" charset="-122"/>
                <a:cs typeface="Calibri" pitchFamily="34" charset="-120"/>
              </a:rPr>
              <a:t>Mysuru</a:t>
            </a:r>
            <a:endParaRPr lang="en-US" sz="1350" dirty="0"/>
          </a:p>
        </p:txBody>
      </p:sp>
      <p:sp>
        <p:nvSpPr>
          <p:cNvPr id="23" name="Shape 21"/>
          <p:cNvSpPr/>
          <p:nvPr/>
        </p:nvSpPr>
        <p:spPr>
          <a:xfrm>
            <a:off x="7338060" y="2715768"/>
            <a:ext cx="2139696" cy="960120"/>
          </a:xfrm>
          <a:prstGeom prst="roundRect">
            <a:avLst>
              <a:gd name="adj" fmla="val 6667"/>
            </a:avLst>
          </a:prstGeom>
          <a:solidFill>
            <a:srgbClr val="F5F7FB"/>
          </a:solidFill>
          <a:ln w="12700">
            <a:solidFill>
              <a:srgbClr val="E3E7F1"/>
            </a:solidFill>
            <a:prstDash val="solid"/>
          </a:ln>
        </p:spPr>
        <p:txBody>
          <a:bodyPr/>
          <a:lstStyle/>
          <a:p>
            <a:endParaRPr lang="en-IN"/>
          </a:p>
        </p:txBody>
      </p:sp>
      <p:sp>
        <p:nvSpPr>
          <p:cNvPr id="24" name="Text 22"/>
          <p:cNvSpPr/>
          <p:nvPr/>
        </p:nvSpPr>
        <p:spPr>
          <a:xfrm>
            <a:off x="7447788" y="2715768"/>
            <a:ext cx="1920240" cy="960120"/>
          </a:xfrm>
          <a:prstGeom prst="rect">
            <a:avLst/>
          </a:prstGeom>
          <a:noFill/>
          <a:ln/>
        </p:spPr>
        <p:txBody>
          <a:bodyPr wrap="square" lIns="0" tIns="0" rIns="0" bIns="0" rtlCol="0" anchor="ctr"/>
          <a:lstStyle/>
          <a:p>
            <a:pPr marL="0" indent="0" algn="l">
              <a:buNone/>
            </a:pPr>
            <a:r>
              <a:rPr lang="en-US" sz="1350" dirty="0">
                <a:solidFill>
                  <a:srgbClr val="1B1F3B"/>
                </a:solidFill>
                <a:latin typeface="Calibri" pitchFamily="34" charset="0"/>
                <a:ea typeface="Calibri" pitchFamily="34" charset="-122"/>
                <a:cs typeface="Calibri" pitchFamily="34" charset="-120"/>
              </a:rPr>
              <a:t>Mangalore</a:t>
            </a:r>
            <a:endParaRPr lang="en-US" sz="1350" dirty="0"/>
          </a:p>
        </p:txBody>
      </p:sp>
      <p:sp>
        <p:nvSpPr>
          <p:cNvPr id="25" name="Shape 23"/>
          <p:cNvSpPr/>
          <p:nvPr/>
        </p:nvSpPr>
        <p:spPr>
          <a:xfrm>
            <a:off x="9601200" y="2715768"/>
            <a:ext cx="2139696" cy="960120"/>
          </a:xfrm>
          <a:prstGeom prst="roundRect">
            <a:avLst>
              <a:gd name="adj" fmla="val 6667"/>
            </a:avLst>
          </a:prstGeom>
          <a:solidFill>
            <a:srgbClr val="F5F7FB"/>
          </a:solidFill>
          <a:ln w="12700">
            <a:solidFill>
              <a:srgbClr val="E3E7F1"/>
            </a:solidFill>
            <a:prstDash val="solid"/>
          </a:ln>
        </p:spPr>
        <p:txBody>
          <a:bodyPr/>
          <a:lstStyle/>
          <a:p>
            <a:endParaRPr lang="en-IN"/>
          </a:p>
        </p:txBody>
      </p:sp>
      <p:sp>
        <p:nvSpPr>
          <p:cNvPr id="26" name="Text 24"/>
          <p:cNvSpPr/>
          <p:nvPr/>
        </p:nvSpPr>
        <p:spPr>
          <a:xfrm>
            <a:off x="9710928" y="2715768"/>
            <a:ext cx="1920240" cy="960120"/>
          </a:xfrm>
          <a:prstGeom prst="rect">
            <a:avLst/>
          </a:prstGeom>
          <a:noFill/>
          <a:ln/>
        </p:spPr>
        <p:txBody>
          <a:bodyPr wrap="square" lIns="0" tIns="0" rIns="0" bIns="0" rtlCol="0" anchor="ctr"/>
          <a:lstStyle/>
          <a:p>
            <a:pPr marL="0" indent="0" algn="l">
              <a:buNone/>
            </a:pPr>
            <a:r>
              <a:rPr lang="en-US" sz="1350" dirty="0">
                <a:solidFill>
                  <a:srgbClr val="1B1F3B"/>
                </a:solidFill>
                <a:latin typeface="Calibri" pitchFamily="34" charset="0"/>
                <a:ea typeface="Calibri" pitchFamily="34" charset="-122"/>
                <a:cs typeface="Calibri" pitchFamily="34" charset="-120"/>
              </a:rPr>
              <a:t>Visakhapatnam</a:t>
            </a:r>
            <a:endParaRPr lang="en-US" sz="1350" dirty="0"/>
          </a:p>
        </p:txBody>
      </p:sp>
      <p:sp>
        <p:nvSpPr>
          <p:cNvPr id="27" name="Shape 25"/>
          <p:cNvSpPr/>
          <p:nvPr/>
        </p:nvSpPr>
        <p:spPr>
          <a:xfrm>
            <a:off x="548640" y="3886200"/>
            <a:ext cx="11091672" cy="1691640"/>
          </a:xfrm>
          <a:prstGeom prst="roundRect">
            <a:avLst>
              <a:gd name="adj" fmla="val 4324"/>
            </a:avLst>
          </a:prstGeom>
          <a:solidFill>
            <a:srgbClr val="EDF2FC"/>
          </a:solidFill>
          <a:ln w="12700">
            <a:solidFill>
              <a:srgbClr val="CADCFC"/>
            </a:solidFill>
            <a:prstDash val="solid"/>
          </a:ln>
        </p:spPr>
        <p:txBody>
          <a:bodyPr/>
          <a:lstStyle/>
          <a:p>
            <a:endParaRPr lang="en-IN"/>
          </a:p>
        </p:txBody>
      </p:sp>
      <p:sp>
        <p:nvSpPr>
          <p:cNvPr id="28" name="Text 26"/>
          <p:cNvSpPr/>
          <p:nvPr/>
        </p:nvSpPr>
        <p:spPr>
          <a:xfrm>
            <a:off x="822960" y="4041648"/>
            <a:ext cx="10515600" cy="1417320"/>
          </a:xfrm>
          <a:prstGeom prst="rect">
            <a:avLst/>
          </a:prstGeom>
          <a:noFill/>
          <a:ln/>
        </p:spPr>
        <p:txBody>
          <a:bodyPr wrap="square" lIns="0" tIns="0" rIns="0" bIns="0" rtlCol="0" anchor="t"/>
          <a:lstStyle/>
          <a:p>
            <a:pPr marL="0" indent="0">
              <a:lnSpc>
                <a:spcPct val="125000"/>
              </a:lnSpc>
              <a:buNone/>
            </a:pPr>
            <a:r>
              <a:rPr lang="en-US" sz="1150" b="1" dirty="0">
                <a:solidFill>
                  <a:srgbClr val="1E2761"/>
                </a:solidFill>
                <a:latin typeface="Calibri" pitchFamily="34" charset="0"/>
                <a:ea typeface="Calibri" pitchFamily="34" charset="-122"/>
                <a:cs typeface="Calibri" pitchFamily="34" charset="-120"/>
              </a:rPr>
              <a:t>Reading note: </a:t>
            </a:r>
            <a:r>
              <a:rPr lang="en-US" sz="1150" dirty="0">
                <a:solidFill>
                  <a:srgbClr val="1B1F3B"/>
                </a:solidFill>
                <a:latin typeface="Calibri" pitchFamily="34" charset="0"/>
                <a:ea typeface="Calibri" pitchFamily="34" charset="-122"/>
                <a:cs typeface="Calibri" pitchFamily="34" charset="-120"/>
              </a:rPr>
              <a:t>The underlying dataset provided for this task did not include per-city store counts, so exact figures are intentionally omitted rather than estimated. Bengaluru, Hyderabad, and Chennai are flagged as the network's three key metro markets based on the campaign and store records reviewed; a precise ranking between them, and the full 10-city distribution, requires the store count field to be confirmed with the data engineering team.</a:t>
            </a:r>
            <a:endParaRPr lang="en-US" sz="1150" dirty="0"/>
          </a:p>
        </p:txBody>
      </p:sp>
      <p:sp>
        <p:nvSpPr>
          <p:cNvPr id="29" name="Shape 27"/>
          <p:cNvSpPr/>
          <p:nvPr/>
        </p:nvSpPr>
        <p:spPr>
          <a:xfrm>
            <a:off x="548640" y="5806440"/>
            <a:ext cx="11091672" cy="603504"/>
          </a:xfrm>
          <a:prstGeom prst="roundRect">
            <a:avLst>
              <a:gd name="adj" fmla="val 9091"/>
            </a:avLst>
          </a:prstGeom>
          <a:solidFill>
            <a:srgbClr val="EDF2FC"/>
          </a:solidFill>
          <a:ln w="9525">
            <a:solidFill>
              <a:srgbClr val="CADCFC"/>
            </a:solidFill>
            <a:prstDash val="solid"/>
          </a:ln>
        </p:spPr>
        <p:txBody>
          <a:bodyPr/>
          <a:lstStyle/>
          <a:p>
            <a:endParaRPr lang="en-IN"/>
          </a:p>
        </p:txBody>
      </p:sp>
      <p:sp>
        <p:nvSpPr>
          <p:cNvPr id="30" name="Text 28"/>
          <p:cNvSpPr/>
          <p:nvPr/>
        </p:nvSpPr>
        <p:spPr>
          <a:xfrm>
            <a:off x="777240" y="5806440"/>
            <a:ext cx="10634472" cy="603504"/>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BUSINESS TAKEAWAY   </a:t>
            </a:r>
            <a:r>
              <a:rPr lang="en-US" sz="1100" dirty="0">
                <a:solidFill>
                  <a:srgbClr val="1B1F3B"/>
                </a:solidFill>
                <a:latin typeface="Calibri" pitchFamily="34" charset="0"/>
                <a:ea typeface="Calibri" pitchFamily="34" charset="-122"/>
                <a:cs typeface="Calibri" pitchFamily="34" charset="-120"/>
              </a:rPr>
              <a:t>Store footprint shapes campaign reach and comparability — a city with more stores will naturally show higher absolute volume, so like-for-like performance comparisons (e.g. Bengaluru vs Hyderabad vs Chennai) should be normalized per store once counts are available.</a:t>
            </a:r>
            <a:endParaRPr lang="en-US" sz="1100" dirty="0"/>
          </a:p>
        </p:txBody>
      </p:sp>
      <p:sp>
        <p:nvSpPr>
          <p:cNvPr id="31" name="Text 29"/>
          <p:cNvSpPr/>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5B6178"/>
                </a:solidFill>
                <a:latin typeface="Calibri" pitchFamily="34" charset="0"/>
                <a:ea typeface="Calibri" pitchFamily="34" charset="-122"/>
                <a:cs typeface="Calibri" pitchFamily="34" charset="-120"/>
              </a:rPr>
              <a:t>Nova Mart Campaign Performance Analysis</a:t>
            </a:r>
            <a:endParaRPr lang="en-US" sz="900" dirty="0"/>
          </a:p>
        </p:txBody>
      </p:sp>
      <p:sp>
        <p:nvSpPr>
          <p:cNvPr id="32" name="Text 30"/>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5B61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150" dirty="0">
                <a:solidFill>
                  <a:srgbClr val="C99A3A"/>
                </a:solidFill>
                <a:latin typeface="Calibri" pitchFamily="34" charset="0"/>
                <a:ea typeface="Calibri" pitchFamily="34" charset="-122"/>
                <a:cs typeface="Calibri" pitchFamily="34" charset="-120"/>
              </a:rPr>
              <a:t>Q2 · CATEGORY MIX</a:t>
            </a:r>
            <a:endParaRPr lang="en-US" sz="1200" dirty="0"/>
          </a:p>
        </p:txBody>
      </p:sp>
      <p:sp>
        <p:nvSpPr>
          <p:cNvPr id="3" name="Text 1"/>
          <p:cNvSpPr/>
          <p:nvPr/>
        </p:nvSpPr>
        <p:spPr>
          <a:xfrm>
            <a:off x="548640" y="566928"/>
            <a:ext cx="11064240" cy="59436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Sankranti Volume Is Concentrated in Grocery &amp; Staples</a:t>
            </a:r>
            <a:endParaRPr lang="en-US" sz="2800" dirty="0"/>
          </a:p>
        </p:txBody>
      </p:sp>
      <p:graphicFrame>
        <p:nvGraphicFramePr>
          <p:cNvPr id="4" name="Chart 0"/>
          <p:cNvGraphicFramePr/>
          <p:nvPr/>
        </p:nvGraphicFramePr>
        <p:xfrm>
          <a:off x="548640" y="1417320"/>
          <a:ext cx="5486400" cy="42519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400800" y="1417320"/>
            <a:ext cx="5257800" cy="1097280"/>
          </a:xfrm>
          <a:prstGeom prst="roundRect">
            <a:avLst>
              <a:gd name="adj" fmla="val 6667"/>
            </a:avLst>
          </a:prstGeom>
          <a:solidFill>
            <a:srgbClr val="141B47"/>
          </a:solidFill>
          <a:ln/>
        </p:spPr>
        <p:txBody>
          <a:bodyPr/>
          <a:lstStyle/>
          <a:p>
            <a:endParaRPr lang="en-IN"/>
          </a:p>
        </p:txBody>
      </p:sp>
      <p:sp>
        <p:nvSpPr>
          <p:cNvPr id="6" name="Text 3"/>
          <p:cNvSpPr/>
          <p:nvPr/>
        </p:nvSpPr>
        <p:spPr>
          <a:xfrm>
            <a:off x="6629400" y="1417320"/>
            <a:ext cx="4800600" cy="1097280"/>
          </a:xfrm>
          <a:prstGeom prst="rect">
            <a:avLst/>
          </a:prstGeom>
          <a:noFill/>
          <a:ln/>
        </p:spPr>
        <p:txBody>
          <a:bodyPr wrap="square" lIns="0" tIns="0" rIns="0" bIns="0" rtlCol="0" anchor="ctr"/>
          <a:lstStyle/>
          <a:p>
            <a:pPr marL="0" indent="0">
              <a:lnSpc>
                <a:spcPct val="110000"/>
              </a:lnSpc>
              <a:buNone/>
            </a:pPr>
            <a:r>
              <a:rPr lang="en-US" sz="3000" b="1" dirty="0">
                <a:solidFill>
                  <a:srgbClr val="FFFFFF"/>
                </a:solidFill>
                <a:latin typeface="Cambria" pitchFamily="34" charset="0"/>
                <a:ea typeface="Cambria" pitchFamily="34" charset="-122"/>
                <a:cs typeface="Cambria" pitchFamily="34" charset="-120"/>
              </a:rPr>
              <a:t>70.51%</a:t>
            </a:r>
            <a:endParaRPr lang="en-US" sz="3000" dirty="0"/>
          </a:p>
          <a:p>
            <a:pPr marL="0" indent="0">
              <a:lnSpc>
                <a:spcPct val="110000"/>
              </a:lnSpc>
              <a:buNone/>
            </a:pPr>
            <a:r>
              <a:rPr lang="en-US" sz="1150" dirty="0">
                <a:solidFill>
                  <a:srgbClr val="CADCFC"/>
                </a:solidFill>
              </a:rPr>
              <a:t>of Sankranti units sold came from Grocery &amp; Staples alone</a:t>
            </a:r>
            <a:endParaRPr lang="en-US" sz="3000" dirty="0"/>
          </a:p>
        </p:txBody>
      </p:sp>
      <p:sp>
        <p:nvSpPr>
          <p:cNvPr id="7" name="Text 4"/>
          <p:cNvSpPr/>
          <p:nvPr/>
        </p:nvSpPr>
        <p:spPr>
          <a:xfrm>
            <a:off x="6400800" y="2697480"/>
            <a:ext cx="5257800" cy="914400"/>
          </a:xfrm>
          <a:prstGeom prst="rect">
            <a:avLst/>
          </a:prstGeom>
          <a:noFill/>
          <a:ln/>
        </p:spPr>
        <p:txBody>
          <a:bodyPr wrap="square" lIns="0" tIns="0" rIns="0" bIns="0" rtlCol="0" anchor="t"/>
          <a:lstStyle/>
          <a:p>
            <a:pPr marL="0" indent="0">
              <a:lnSpc>
                <a:spcPct val="120000"/>
              </a:lnSpc>
              <a:buNone/>
            </a:pPr>
            <a:r>
              <a:rPr lang="en-US" sz="1200" b="1" dirty="0">
                <a:solidFill>
                  <a:srgbClr val="1E2761"/>
                </a:solidFill>
                <a:latin typeface="Calibri" pitchFamily="34" charset="0"/>
                <a:ea typeface="Calibri" pitchFamily="34" charset="-122"/>
                <a:cs typeface="Calibri" pitchFamily="34" charset="-120"/>
              </a:rPr>
              <a:t>Home Appliances</a:t>
            </a:r>
            <a:endParaRPr lang="en-US" sz="1200" dirty="0"/>
          </a:p>
          <a:p>
            <a:pPr marL="0" indent="0">
              <a:lnSpc>
                <a:spcPct val="120000"/>
              </a:lnSpc>
              <a:buNone/>
            </a:pPr>
            <a:r>
              <a:rPr lang="en-US" sz="1200" dirty="0">
                <a:solidFill>
                  <a:srgbClr val="1B1F3B"/>
                </a:solidFill>
                <a:latin typeface="Calibri" pitchFamily="34" charset="0"/>
                <a:ea typeface="Calibri" pitchFamily="34" charset="-122"/>
                <a:cs typeface="Calibri" pitchFamily="34" charset="-120"/>
              </a:rPr>
              <a:t>is the second-largest contributor at 14.13% of quantity sold — a distant second, but the only other category above 10%.</a:t>
            </a:r>
            <a:endParaRPr lang="en-US" sz="1200" dirty="0"/>
          </a:p>
        </p:txBody>
      </p:sp>
      <p:sp>
        <p:nvSpPr>
          <p:cNvPr id="8" name="Text 5"/>
          <p:cNvSpPr/>
          <p:nvPr/>
        </p:nvSpPr>
        <p:spPr>
          <a:xfrm>
            <a:off x="6400800" y="3657600"/>
            <a:ext cx="5257800" cy="960120"/>
          </a:xfrm>
          <a:prstGeom prst="rect">
            <a:avLst/>
          </a:prstGeom>
          <a:noFill/>
          <a:ln/>
        </p:spPr>
        <p:txBody>
          <a:bodyPr wrap="square" lIns="0" tIns="0" rIns="0" bIns="0" rtlCol="0" anchor="t"/>
          <a:lstStyle/>
          <a:p>
            <a:pPr marL="0" indent="0">
              <a:lnSpc>
                <a:spcPct val="120000"/>
              </a:lnSpc>
              <a:buNone/>
            </a:pPr>
            <a:r>
              <a:rPr lang="en-US" sz="1200" b="1" dirty="0">
                <a:solidFill>
                  <a:srgbClr val="1E2761"/>
                </a:solidFill>
                <a:latin typeface="Calibri" pitchFamily="34" charset="0"/>
                <a:ea typeface="Calibri" pitchFamily="34" charset="-122"/>
                <a:cs typeface="Calibri" pitchFamily="34" charset="-120"/>
              </a:rPr>
              <a:t>Personal Care</a:t>
            </a:r>
            <a:endParaRPr lang="en-US" sz="1200" dirty="0"/>
          </a:p>
          <a:p>
            <a:pPr marL="0" indent="0">
              <a:lnSpc>
                <a:spcPct val="120000"/>
              </a:lnSpc>
              <a:buNone/>
            </a:pPr>
            <a:r>
              <a:rPr lang="en-US" sz="1200" dirty="0">
                <a:solidFill>
                  <a:srgbClr val="1B1F3B"/>
                </a:solidFill>
                <a:latin typeface="Calibri" pitchFamily="34" charset="0"/>
                <a:ea typeface="Calibri" pitchFamily="34" charset="-122"/>
                <a:cs typeface="Calibri" pitchFamily="34" charset="-120"/>
              </a:rPr>
              <a:t>contributes the smallest share at 3.74%, alongside Combo1 (4.92%) and Home Care (6.70%) — together just 15.4% of volume.</a:t>
            </a:r>
            <a:endParaRPr lang="en-US" sz="1200" dirty="0"/>
          </a:p>
        </p:txBody>
      </p:sp>
      <p:sp>
        <p:nvSpPr>
          <p:cNvPr id="9" name="Shape 6"/>
          <p:cNvSpPr/>
          <p:nvPr/>
        </p:nvSpPr>
        <p:spPr>
          <a:xfrm>
            <a:off x="548640" y="5806440"/>
            <a:ext cx="11091672" cy="603504"/>
          </a:xfrm>
          <a:prstGeom prst="roundRect">
            <a:avLst>
              <a:gd name="adj" fmla="val 9091"/>
            </a:avLst>
          </a:prstGeom>
          <a:solidFill>
            <a:srgbClr val="EDF2FC"/>
          </a:solidFill>
          <a:ln w="9525">
            <a:solidFill>
              <a:srgbClr val="CADCFC"/>
            </a:solidFill>
            <a:prstDash val="solid"/>
          </a:ln>
        </p:spPr>
        <p:txBody>
          <a:bodyPr/>
          <a:lstStyle/>
          <a:p>
            <a:endParaRPr lang="en-IN"/>
          </a:p>
        </p:txBody>
      </p:sp>
      <p:sp>
        <p:nvSpPr>
          <p:cNvPr id="10" name="Text 7"/>
          <p:cNvSpPr/>
          <p:nvPr/>
        </p:nvSpPr>
        <p:spPr>
          <a:xfrm>
            <a:off x="777240" y="5806440"/>
            <a:ext cx="10634472" cy="603504"/>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BUSINESS TAKEAWAY   </a:t>
            </a:r>
            <a:r>
              <a:rPr lang="en-US" sz="1100" dirty="0">
                <a:solidFill>
                  <a:srgbClr val="1B1F3B"/>
                </a:solidFill>
                <a:latin typeface="Calibri" pitchFamily="34" charset="0"/>
                <a:ea typeface="Calibri" pitchFamily="34" charset="-122"/>
                <a:cs typeface="Calibri" pitchFamily="34" charset="-120"/>
              </a:rPr>
              <a:t>Maintain strong inventory availability and targeted promotion in Grocery &amp; Staples, while investigating whether Home Care, Combo1 and Personal Care need stronger incentives, bundling, or repositioning to lift their share.</a:t>
            </a:r>
            <a:endParaRPr lang="en-US" sz="1100" dirty="0"/>
          </a:p>
        </p:txBody>
      </p:sp>
      <p:sp>
        <p:nvSpPr>
          <p:cNvPr id="11" name="Text 8"/>
          <p:cNvSpPr/>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5B6178"/>
                </a:solidFill>
                <a:latin typeface="Calibri" pitchFamily="34" charset="0"/>
                <a:ea typeface="Calibri" pitchFamily="34" charset="-122"/>
                <a:cs typeface="Calibri" pitchFamily="34" charset="-120"/>
              </a:rPr>
              <a:t>Nova Mart Campaign Performance Analysis</a:t>
            </a:r>
            <a:endParaRPr lang="en-US" sz="900" dirty="0"/>
          </a:p>
        </p:txBody>
      </p:sp>
      <p:sp>
        <p:nvSpPr>
          <p:cNvPr id="12" name="Text 9"/>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5B61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150" dirty="0">
                <a:solidFill>
                  <a:srgbClr val="C99A3A"/>
                </a:solidFill>
                <a:latin typeface="Calibri" pitchFamily="34" charset="0"/>
                <a:ea typeface="Calibri" pitchFamily="34" charset="-122"/>
                <a:cs typeface="Calibri" pitchFamily="34" charset="-120"/>
              </a:rPr>
              <a:t>Q3 · PRICE–VOLUME RELATIONSHIP</a:t>
            </a:r>
            <a:endParaRPr lang="en-US" sz="1200" dirty="0"/>
          </a:p>
        </p:txBody>
      </p:sp>
      <p:sp>
        <p:nvSpPr>
          <p:cNvPr id="3" name="Text 1"/>
          <p:cNvSpPr/>
          <p:nvPr/>
        </p:nvSpPr>
        <p:spPr>
          <a:xfrm>
            <a:off x="548640" y="566928"/>
            <a:ext cx="11064240" cy="59436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Post-Promotion Price Weakly Predicts Quantity Sold</a:t>
            </a:r>
            <a:endParaRPr lang="en-US" sz="2800" dirty="0"/>
          </a:p>
        </p:txBody>
      </p:sp>
      <p:sp>
        <p:nvSpPr>
          <p:cNvPr id="4" name="Text 2"/>
          <p:cNvSpPr/>
          <p:nvPr/>
        </p:nvSpPr>
        <p:spPr>
          <a:xfrm>
            <a:off x="2240280" y="1051560"/>
            <a:ext cx="1965960" cy="685800"/>
          </a:xfrm>
          <a:prstGeom prst="rect">
            <a:avLst/>
          </a:prstGeom>
          <a:noFill/>
          <a:ln/>
        </p:spPr>
        <p:txBody>
          <a:bodyPr wrap="square" lIns="0" tIns="0" rIns="0" bIns="0" rtlCol="0" anchor="b"/>
          <a:lstStyle/>
          <a:p>
            <a:pPr marL="0" indent="0" algn="ctr">
              <a:buNone/>
            </a:pPr>
            <a:r>
              <a:rPr lang="en-US" sz="950" dirty="0">
                <a:solidFill>
                  <a:srgbClr val="1B1F3B"/>
                </a:solidFill>
                <a:latin typeface="Calibri" pitchFamily="34" charset="0"/>
                <a:ea typeface="Calibri" pitchFamily="34" charset="-122"/>
                <a:cs typeface="Calibri" pitchFamily="34" charset="-120"/>
              </a:rPr>
              <a:t>Base Price (After Promo)</a:t>
            </a:r>
            <a:endParaRPr lang="en-US" sz="950" dirty="0"/>
          </a:p>
        </p:txBody>
      </p:sp>
      <p:sp>
        <p:nvSpPr>
          <p:cNvPr id="5" name="Text 3"/>
          <p:cNvSpPr/>
          <p:nvPr/>
        </p:nvSpPr>
        <p:spPr>
          <a:xfrm>
            <a:off x="3657600" y="1051560"/>
            <a:ext cx="1965960" cy="685800"/>
          </a:xfrm>
          <a:prstGeom prst="rect">
            <a:avLst/>
          </a:prstGeom>
          <a:noFill/>
          <a:ln/>
        </p:spPr>
        <p:txBody>
          <a:bodyPr wrap="square" lIns="0" tIns="0" rIns="0" bIns="0" rtlCol="0" anchor="b"/>
          <a:lstStyle/>
          <a:p>
            <a:pPr marL="0" indent="0" algn="ctr">
              <a:buNone/>
            </a:pPr>
            <a:r>
              <a:rPr lang="en-US" sz="950" dirty="0">
                <a:solidFill>
                  <a:srgbClr val="1B1F3B"/>
                </a:solidFill>
                <a:latin typeface="Calibri" pitchFamily="34" charset="0"/>
                <a:ea typeface="Calibri" pitchFamily="34" charset="-122"/>
                <a:cs typeface="Calibri" pitchFamily="34" charset="-120"/>
              </a:rPr>
              <a:t>Quantity Sold (After Promo)</a:t>
            </a:r>
            <a:endParaRPr lang="en-US" sz="950" dirty="0"/>
          </a:p>
        </p:txBody>
      </p:sp>
      <p:sp>
        <p:nvSpPr>
          <p:cNvPr id="6" name="Text 4"/>
          <p:cNvSpPr/>
          <p:nvPr/>
        </p:nvSpPr>
        <p:spPr>
          <a:xfrm>
            <a:off x="548640" y="1737360"/>
            <a:ext cx="1874520" cy="1417320"/>
          </a:xfrm>
          <a:prstGeom prst="rect">
            <a:avLst/>
          </a:prstGeom>
          <a:noFill/>
          <a:ln/>
        </p:spPr>
        <p:txBody>
          <a:bodyPr wrap="square" lIns="0" tIns="0" rIns="0" bIns="0" rtlCol="0" anchor="ctr"/>
          <a:lstStyle/>
          <a:p>
            <a:pPr marL="0" indent="0" algn="r">
              <a:buNone/>
            </a:pPr>
            <a:r>
              <a:rPr lang="en-US" sz="950" dirty="0">
                <a:solidFill>
                  <a:srgbClr val="1B1F3B"/>
                </a:solidFill>
                <a:latin typeface="Calibri" pitchFamily="34" charset="0"/>
                <a:ea typeface="Calibri" pitchFamily="34" charset="-122"/>
                <a:cs typeface="Calibri" pitchFamily="34" charset="-120"/>
              </a:rPr>
              <a:t>Base Price (After Promo)</a:t>
            </a:r>
            <a:endParaRPr lang="en-US" sz="950" dirty="0"/>
          </a:p>
        </p:txBody>
      </p:sp>
      <p:sp>
        <p:nvSpPr>
          <p:cNvPr id="7" name="Shape 5"/>
          <p:cNvSpPr/>
          <p:nvPr/>
        </p:nvSpPr>
        <p:spPr>
          <a:xfrm>
            <a:off x="2514600" y="1737360"/>
            <a:ext cx="1362456" cy="1362456"/>
          </a:xfrm>
          <a:prstGeom prst="rect">
            <a:avLst/>
          </a:prstGeom>
          <a:solidFill>
            <a:srgbClr val="1E2761"/>
          </a:solidFill>
          <a:ln w="25400">
            <a:solidFill>
              <a:srgbClr val="FFFFFF"/>
            </a:solidFill>
            <a:prstDash val="solid"/>
          </a:ln>
        </p:spPr>
        <p:txBody>
          <a:bodyPr/>
          <a:lstStyle/>
          <a:p>
            <a:endParaRPr lang="en-IN"/>
          </a:p>
        </p:txBody>
      </p:sp>
      <p:sp>
        <p:nvSpPr>
          <p:cNvPr id="8" name="Text 6"/>
          <p:cNvSpPr/>
          <p:nvPr/>
        </p:nvSpPr>
        <p:spPr>
          <a:xfrm>
            <a:off x="2514600" y="1737360"/>
            <a:ext cx="1362456" cy="1362456"/>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1.0000</a:t>
            </a:r>
            <a:endParaRPr lang="en-US" sz="1600" dirty="0"/>
          </a:p>
        </p:txBody>
      </p:sp>
      <p:sp>
        <p:nvSpPr>
          <p:cNvPr id="9" name="Shape 7"/>
          <p:cNvSpPr/>
          <p:nvPr/>
        </p:nvSpPr>
        <p:spPr>
          <a:xfrm>
            <a:off x="3931920" y="1737360"/>
            <a:ext cx="1362456" cy="1362456"/>
          </a:xfrm>
          <a:prstGeom prst="rect">
            <a:avLst/>
          </a:prstGeom>
          <a:solidFill>
            <a:srgbClr val="9FB3E0"/>
          </a:solidFill>
          <a:ln w="25400">
            <a:solidFill>
              <a:srgbClr val="FFFFFF"/>
            </a:solidFill>
            <a:prstDash val="solid"/>
          </a:ln>
        </p:spPr>
        <p:txBody>
          <a:bodyPr/>
          <a:lstStyle/>
          <a:p>
            <a:endParaRPr lang="en-IN"/>
          </a:p>
        </p:txBody>
      </p:sp>
      <p:sp>
        <p:nvSpPr>
          <p:cNvPr id="10" name="Text 8"/>
          <p:cNvSpPr/>
          <p:nvPr/>
        </p:nvSpPr>
        <p:spPr>
          <a:xfrm>
            <a:off x="3931920" y="1737360"/>
            <a:ext cx="1362456" cy="1362456"/>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0.2694</a:t>
            </a:r>
            <a:endParaRPr lang="en-US" sz="1600" dirty="0"/>
          </a:p>
        </p:txBody>
      </p:sp>
      <p:sp>
        <p:nvSpPr>
          <p:cNvPr id="11" name="Text 9"/>
          <p:cNvSpPr/>
          <p:nvPr/>
        </p:nvSpPr>
        <p:spPr>
          <a:xfrm>
            <a:off x="548640" y="3154680"/>
            <a:ext cx="1874520" cy="1417320"/>
          </a:xfrm>
          <a:prstGeom prst="rect">
            <a:avLst/>
          </a:prstGeom>
          <a:noFill/>
          <a:ln/>
        </p:spPr>
        <p:txBody>
          <a:bodyPr wrap="square" lIns="0" tIns="0" rIns="0" bIns="0" rtlCol="0" anchor="ctr"/>
          <a:lstStyle/>
          <a:p>
            <a:pPr marL="0" indent="0" algn="r">
              <a:buNone/>
            </a:pPr>
            <a:r>
              <a:rPr lang="en-US" sz="950" dirty="0">
                <a:solidFill>
                  <a:srgbClr val="1B1F3B"/>
                </a:solidFill>
                <a:latin typeface="Calibri" pitchFamily="34" charset="0"/>
                <a:ea typeface="Calibri" pitchFamily="34" charset="-122"/>
                <a:cs typeface="Calibri" pitchFamily="34" charset="-120"/>
              </a:rPr>
              <a:t>Quantity Sold (After Promo)</a:t>
            </a:r>
            <a:endParaRPr lang="en-US" sz="950" dirty="0"/>
          </a:p>
        </p:txBody>
      </p:sp>
      <p:sp>
        <p:nvSpPr>
          <p:cNvPr id="12" name="Shape 10"/>
          <p:cNvSpPr/>
          <p:nvPr/>
        </p:nvSpPr>
        <p:spPr>
          <a:xfrm>
            <a:off x="2514600" y="3154680"/>
            <a:ext cx="1362456" cy="1362456"/>
          </a:xfrm>
          <a:prstGeom prst="rect">
            <a:avLst/>
          </a:prstGeom>
          <a:solidFill>
            <a:srgbClr val="9FB3E0"/>
          </a:solidFill>
          <a:ln w="25400">
            <a:solidFill>
              <a:srgbClr val="FFFFFF"/>
            </a:solidFill>
            <a:prstDash val="solid"/>
          </a:ln>
        </p:spPr>
        <p:txBody>
          <a:bodyPr/>
          <a:lstStyle/>
          <a:p>
            <a:endParaRPr lang="en-IN"/>
          </a:p>
        </p:txBody>
      </p:sp>
      <p:sp>
        <p:nvSpPr>
          <p:cNvPr id="13" name="Text 11"/>
          <p:cNvSpPr/>
          <p:nvPr/>
        </p:nvSpPr>
        <p:spPr>
          <a:xfrm>
            <a:off x="2514600" y="3154680"/>
            <a:ext cx="1362456" cy="1362456"/>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0.2694</a:t>
            </a:r>
            <a:endParaRPr lang="en-US" sz="1600" dirty="0"/>
          </a:p>
        </p:txBody>
      </p:sp>
      <p:sp>
        <p:nvSpPr>
          <p:cNvPr id="14" name="Shape 12"/>
          <p:cNvSpPr/>
          <p:nvPr/>
        </p:nvSpPr>
        <p:spPr>
          <a:xfrm>
            <a:off x="3931920" y="3154680"/>
            <a:ext cx="1362456" cy="1362456"/>
          </a:xfrm>
          <a:prstGeom prst="rect">
            <a:avLst/>
          </a:prstGeom>
          <a:solidFill>
            <a:srgbClr val="1E2761"/>
          </a:solidFill>
          <a:ln w="25400">
            <a:solidFill>
              <a:srgbClr val="FFFFFF"/>
            </a:solidFill>
            <a:prstDash val="solid"/>
          </a:ln>
        </p:spPr>
        <p:txBody>
          <a:bodyPr/>
          <a:lstStyle/>
          <a:p>
            <a:endParaRPr lang="en-IN"/>
          </a:p>
        </p:txBody>
      </p:sp>
      <p:sp>
        <p:nvSpPr>
          <p:cNvPr id="15" name="Text 13"/>
          <p:cNvSpPr/>
          <p:nvPr/>
        </p:nvSpPr>
        <p:spPr>
          <a:xfrm>
            <a:off x="3931920" y="3154680"/>
            <a:ext cx="1362456" cy="1362456"/>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1.0000</a:t>
            </a:r>
            <a:endParaRPr lang="en-US" sz="1600" dirty="0"/>
          </a:p>
        </p:txBody>
      </p:sp>
      <p:sp>
        <p:nvSpPr>
          <p:cNvPr id="16" name="Shape 14"/>
          <p:cNvSpPr/>
          <p:nvPr/>
        </p:nvSpPr>
        <p:spPr>
          <a:xfrm>
            <a:off x="6675120" y="1600200"/>
            <a:ext cx="4937760" cy="1234440"/>
          </a:xfrm>
          <a:prstGeom prst="roundRect">
            <a:avLst>
              <a:gd name="adj" fmla="val 5926"/>
            </a:avLst>
          </a:prstGeom>
          <a:solidFill>
            <a:srgbClr val="FFFFFF"/>
          </a:solidFill>
          <a:ln w="12700">
            <a:solidFill>
              <a:srgbClr val="E3E7F1"/>
            </a:solidFill>
            <a:prstDash val="solid"/>
          </a:ln>
          <a:effectLst>
            <a:outerShdw blurRad="76200" dist="25400" dir="5400000" algn="bl" rotWithShape="0">
              <a:srgbClr val="9AA5C7">
                <a:alpha val="35000"/>
              </a:srgbClr>
            </a:outerShdw>
          </a:effectLst>
        </p:spPr>
        <p:txBody>
          <a:bodyPr/>
          <a:lstStyle/>
          <a:p>
            <a:endParaRPr lang="en-IN"/>
          </a:p>
        </p:txBody>
      </p:sp>
      <p:sp>
        <p:nvSpPr>
          <p:cNvPr id="17" name="Text 15"/>
          <p:cNvSpPr/>
          <p:nvPr/>
        </p:nvSpPr>
        <p:spPr>
          <a:xfrm>
            <a:off x="6812280" y="1728216"/>
            <a:ext cx="4663440" cy="667512"/>
          </a:xfrm>
          <a:prstGeom prst="rect">
            <a:avLst/>
          </a:prstGeom>
          <a:noFill/>
          <a:ln/>
        </p:spPr>
        <p:txBody>
          <a:bodyPr wrap="square" lIns="0" tIns="0" rIns="0" bIns="0" rtlCol="0" anchor="b"/>
          <a:lstStyle/>
          <a:p>
            <a:pPr marL="0" indent="0" algn="l">
              <a:buNone/>
            </a:pPr>
            <a:r>
              <a:rPr lang="en-US" sz="3000" b="1" dirty="0">
                <a:solidFill>
                  <a:srgbClr val="1E2761"/>
                </a:solidFill>
                <a:latin typeface="Cambria" pitchFamily="34" charset="0"/>
                <a:ea typeface="Cambria" pitchFamily="34" charset="-122"/>
                <a:cs typeface="Cambria" pitchFamily="34" charset="-120"/>
              </a:rPr>
              <a:t>r = 0.2694</a:t>
            </a:r>
            <a:endParaRPr lang="en-US" sz="3000" dirty="0"/>
          </a:p>
        </p:txBody>
      </p:sp>
      <p:sp>
        <p:nvSpPr>
          <p:cNvPr id="18" name="Text 16"/>
          <p:cNvSpPr/>
          <p:nvPr/>
        </p:nvSpPr>
        <p:spPr>
          <a:xfrm>
            <a:off x="6812280" y="2414016"/>
            <a:ext cx="4663440" cy="365760"/>
          </a:xfrm>
          <a:prstGeom prst="rect">
            <a:avLst/>
          </a:prstGeom>
          <a:noFill/>
          <a:ln/>
        </p:spPr>
        <p:txBody>
          <a:bodyPr wrap="square" lIns="0" tIns="0" rIns="0" bIns="0" rtlCol="0" anchor="t"/>
          <a:lstStyle/>
          <a:p>
            <a:pPr marL="0" indent="0" algn="l">
              <a:buNone/>
            </a:pPr>
            <a:r>
              <a:rPr lang="en-US" sz="1050" dirty="0">
                <a:solidFill>
                  <a:srgbClr val="5B6178"/>
                </a:solidFill>
                <a:latin typeface="Calibri" pitchFamily="34" charset="0"/>
                <a:ea typeface="Calibri" pitchFamily="34" charset="-122"/>
                <a:cs typeface="Calibri" pitchFamily="34" charset="-120"/>
              </a:rPr>
              <a:t>Correlation: post-promotion price vs. post-promotion quantity sold</a:t>
            </a:r>
            <a:endParaRPr lang="en-US" sz="1050" dirty="0"/>
          </a:p>
        </p:txBody>
      </p:sp>
      <p:sp>
        <p:nvSpPr>
          <p:cNvPr id="19" name="Text 17"/>
          <p:cNvSpPr/>
          <p:nvPr/>
        </p:nvSpPr>
        <p:spPr>
          <a:xfrm>
            <a:off x="6675120" y="3017520"/>
            <a:ext cx="4937760" cy="1051560"/>
          </a:xfrm>
          <a:prstGeom prst="rect">
            <a:avLst/>
          </a:prstGeom>
          <a:noFill/>
          <a:ln/>
        </p:spPr>
        <p:txBody>
          <a:bodyPr wrap="square" lIns="0" tIns="0" rIns="0" bIns="0" rtlCol="0" anchor="t"/>
          <a:lstStyle/>
          <a:p>
            <a:pPr marL="0" indent="0">
              <a:lnSpc>
                <a:spcPct val="125000"/>
              </a:lnSpc>
              <a:buNone/>
            </a:pPr>
            <a:r>
              <a:rPr lang="en-US" sz="1200" b="1" dirty="0">
                <a:solidFill>
                  <a:srgbClr val="1E2761"/>
                </a:solidFill>
                <a:latin typeface="Calibri" pitchFamily="34" charset="0"/>
                <a:ea typeface="Calibri" pitchFamily="34" charset="-122"/>
                <a:cs typeface="Calibri" pitchFamily="34" charset="-120"/>
              </a:rPr>
              <a:t>Weak positive relationship. </a:t>
            </a:r>
            <a:endParaRPr lang="en-US" sz="1200" dirty="0"/>
          </a:p>
          <a:p>
            <a:pPr marL="0" indent="0">
              <a:lnSpc>
                <a:spcPct val="125000"/>
              </a:lnSpc>
              <a:buNone/>
            </a:pPr>
            <a:r>
              <a:rPr lang="en-US" sz="1200" dirty="0">
                <a:solidFill>
                  <a:srgbClr val="1B1F3B"/>
                </a:solidFill>
                <a:latin typeface="Calibri" pitchFamily="34" charset="0"/>
                <a:ea typeface="Calibri" pitchFamily="34" charset="-122"/>
                <a:cs typeface="Calibri" pitchFamily="34" charset="-120"/>
              </a:rPr>
              <a:t>A correlation of 0.27 means price movement explains only a small part of the variation in how many units sell after a promotion — price alone does not strongly drive quantity sold.</a:t>
            </a:r>
            <a:endParaRPr lang="en-US" sz="1200" dirty="0"/>
          </a:p>
        </p:txBody>
      </p:sp>
      <p:sp>
        <p:nvSpPr>
          <p:cNvPr id="20" name="Text 18"/>
          <p:cNvSpPr/>
          <p:nvPr/>
        </p:nvSpPr>
        <p:spPr>
          <a:xfrm>
            <a:off x="6675120" y="4160520"/>
            <a:ext cx="4937760" cy="914400"/>
          </a:xfrm>
          <a:prstGeom prst="rect">
            <a:avLst/>
          </a:prstGeom>
          <a:noFill/>
          <a:ln/>
        </p:spPr>
        <p:txBody>
          <a:bodyPr wrap="square" lIns="0" tIns="0" rIns="0" bIns="0" rtlCol="0" anchor="t"/>
          <a:lstStyle/>
          <a:p>
            <a:pPr marL="0" indent="0">
              <a:lnSpc>
                <a:spcPct val="125000"/>
              </a:lnSpc>
              <a:buNone/>
            </a:pPr>
            <a:r>
              <a:rPr lang="en-US" sz="1200" b="1" dirty="0">
                <a:solidFill>
                  <a:srgbClr val="1E2761"/>
                </a:solidFill>
                <a:latin typeface="Calibri" pitchFamily="34" charset="0"/>
                <a:ea typeface="Calibri" pitchFamily="34" charset="-122"/>
                <a:cs typeface="Calibri" pitchFamily="34" charset="-120"/>
              </a:rPr>
              <a:t>Other likely drivers: </a:t>
            </a:r>
            <a:endParaRPr lang="en-US" sz="1200" dirty="0"/>
          </a:p>
          <a:p>
            <a:pPr marL="0" indent="0">
              <a:lnSpc>
                <a:spcPct val="125000"/>
              </a:lnSpc>
              <a:buNone/>
            </a:pPr>
            <a:r>
              <a:rPr lang="en-US" sz="1200" dirty="0">
                <a:solidFill>
                  <a:srgbClr val="1B1F3B"/>
                </a:solidFill>
                <a:latin typeface="Calibri" pitchFamily="34" charset="0"/>
                <a:ea typeface="Calibri" pitchFamily="34" charset="-122"/>
                <a:cs typeface="Calibri" pitchFamily="34" charset="-120"/>
              </a:rPr>
              <a:t>product category, promotion type, store location, underlying product demand, and customer behavior.</a:t>
            </a:r>
            <a:endParaRPr lang="en-US" sz="1200" dirty="0"/>
          </a:p>
        </p:txBody>
      </p:sp>
      <p:sp>
        <p:nvSpPr>
          <p:cNvPr id="21" name="Shape 19"/>
          <p:cNvSpPr/>
          <p:nvPr/>
        </p:nvSpPr>
        <p:spPr>
          <a:xfrm>
            <a:off x="6675120" y="5166360"/>
            <a:ext cx="4937760" cy="548640"/>
          </a:xfrm>
          <a:prstGeom prst="roundRect">
            <a:avLst>
              <a:gd name="adj" fmla="val 10000"/>
            </a:avLst>
          </a:prstGeom>
          <a:solidFill>
            <a:srgbClr val="EDF2FC"/>
          </a:solidFill>
          <a:ln w="9525">
            <a:solidFill>
              <a:srgbClr val="CADCFC"/>
            </a:solidFill>
            <a:prstDash val="solid"/>
          </a:ln>
        </p:spPr>
        <p:txBody>
          <a:bodyPr/>
          <a:lstStyle/>
          <a:p>
            <a:endParaRPr lang="en-IN"/>
          </a:p>
        </p:txBody>
      </p:sp>
      <p:sp>
        <p:nvSpPr>
          <p:cNvPr id="22" name="Text 20"/>
          <p:cNvSpPr/>
          <p:nvPr/>
        </p:nvSpPr>
        <p:spPr>
          <a:xfrm>
            <a:off x="6858000" y="5166360"/>
            <a:ext cx="4572000" cy="548640"/>
          </a:xfrm>
          <a:prstGeom prst="rect">
            <a:avLst/>
          </a:prstGeom>
          <a:noFill/>
          <a:ln/>
        </p:spPr>
        <p:txBody>
          <a:bodyPr wrap="square" lIns="0" tIns="0" rIns="0" bIns="0" rtlCol="0" anchor="ctr"/>
          <a:lstStyle/>
          <a:p>
            <a:pPr marL="0" indent="0">
              <a:buNone/>
            </a:pPr>
            <a:r>
              <a:rPr lang="en-US" sz="1100" i="1" dirty="0">
                <a:solidFill>
                  <a:srgbClr val="1E2761"/>
                </a:solidFill>
                <a:latin typeface="Calibri" pitchFamily="34" charset="0"/>
                <a:ea typeface="Calibri" pitchFamily="34" charset="-122"/>
                <a:cs typeface="Calibri" pitchFamily="34" charset="-120"/>
              </a:rPr>
              <a:t>Correlation indicates association, not causation.</a:t>
            </a:r>
            <a:endParaRPr lang="en-US" sz="1100" dirty="0"/>
          </a:p>
        </p:txBody>
      </p:sp>
      <p:sp>
        <p:nvSpPr>
          <p:cNvPr id="23" name="Text 21"/>
          <p:cNvSpPr/>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5B6178"/>
                </a:solidFill>
                <a:latin typeface="Calibri" pitchFamily="34" charset="0"/>
                <a:ea typeface="Calibri" pitchFamily="34" charset="-122"/>
                <a:cs typeface="Calibri" pitchFamily="34" charset="-120"/>
              </a:rPr>
              <a:t>Nova Mart Campaign Performance Analysis</a:t>
            </a:r>
            <a:endParaRPr lang="en-US" sz="900" dirty="0"/>
          </a:p>
        </p:txBody>
      </p:sp>
      <p:sp>
        <p:nvSpPr>
          <p:cNvPr id="24" name="Text 22"/>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5B61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150" dirty="0">
                <a:solidFill>
                  <a:srgbClr val="C99A3A"/>
                </a:solidFill>
                <a:latin typeface="Calibri" pitchFamily="34" charset="0"/>
                <a:ea typeface="Calibri" pitchFamily="34" charset="-122"/>
                <a:cs typeface="Calibri" pitchFamily="34" charset="-120"/>
              </a:rPr>
              <a:t>Q4 · BASELINE DEMAND</a:t>
            </a:r>
            <a:endParaRPr lang="en-US" sz="1200" dirty="0"/>
          </a:p>
        </p:txBody>
      </p:sp>
      <p:sp>
        <p:nvSpPr>
          <p:cNvPr id="3" name="Text 1"/>
          <p:cNvSpPr/>
          <p:nvPr/>
        </p:nvSpPr>
        <p:spPr>
          <a:xfrm>
            <a:off x="548640" y="566928"/>
            <a:ext cx="11064240" cy="59436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Baseline Demand Before Promotion Differs Sharply by Category</a:t>
            </a:r>
            <a:endParaRPr lang="en-US" sz="2800" dirty="0"/>
          </a:p>
        </p:txBody>
      </p:sp>
      <p:sp>
        <p:nvSpPr>
          <p:cNvPr id="4" name="Text 2"/>
          <p:cNvSpPr/>
          <p:nvPr/>
        </p:nvSpPr>
        <p:spPr>
          <a:xfrm>
            <a:off x="548640" y="1481328"/>
            <a:ext cx="2148840" cy="676656"/>
          </a:xfrm>
          <a:prstGeom prst="rect">
            <a:avLst/>
          </a:prstGeom>
          <a:noFill/>
          <a:ln/>
        </p:spPr>
        <p:txBody>
          <a:bodyPr wrap="square" lIns="0" tIns="0" rIns="0" bIns="0"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Grocery &amp; Staples</a:t>
            </a:r>
            <a:endParaRPr lang="en-US" sz="1250" dirty="0"/>
          </a:p>
        </p:txBody>
      </p:sp>
      <p:sp>
        <p:nvSpPr>
          <p:cNvPr id="5" name="Shape 3"/>
          <p:cNvSpPr/>
          <p:nvPr/>
        </p:nvSpPr>
        <p:spPr>
          <a:xfrm>
            <a:off x="2834640" y="1645920"/>
            <a:ext cx="6720840" cy="310896"/>
          </a:xfrm>
          <a:prstGeom prst="roundRect">
            <a:avLst>
              <a:gd name="adj" fmla="val 14706"/>
            </a:avLst>
          </a:prstGeom>
          <a:solidFill>
            <a:srgbClr val="F5F7FB"/>
          </a:solidFill>
          <a:ln w="9525">
            <a:solidFill>
              <a:srgbClr val="E3E7F1"/>
            </a:solidFill>
            <a:prstDash val="solid"/>
          </a:ln>
        </p:spPr>
        <p:txBody>
          <a:bodyPr/>
          <a:lstStyle/>
          <a:p>
            <a:endParaRPr lang="en-IN"/>
          </a:p>
        </p:txBody>
      </p:sp>
      <p:sp>
        <p:nvSpPr>
          <p:cNvPr id="6" name="Shape 4"/>
          <p:cNvSpPr/>
          <p:nvPr/>
        </p:nvSpPr>
        <p:spPr>
          <a:xfrm>
            <a:off x="2834640" y="1645920"/>
            <a:ext cx="6537544" cy="310896"/>
          </a:xfrm>
          <a:prstGeom prst="roundRect">
            <a:avLst>
              <a:gd name="adj" fmla="val 14706"/>
            </a:avLst>
          </a:prstGeom>
          <a:solidFill>
            <a:srgbClr val="1E2761"/>
          </a:solidFill>
          <a:ln/>
        </p:spPr>
        <p:txBody>
          <a:bodyPr/>
          <a:lstStyle/>
          <a:p>
            <a:endParaRPr lang="en-IN"/>
          </a:p>
        </p:txBody>
      </p:sp>
      <p:sp>
        <p:nvSpPr>
          <p:cNvPr id="7" name="Shape 5"/>
          <p:cNvSpPr/>
          <p:nvPr/>
        </p:nvSpPr>
        <p:spPr>
          <a:xfrm>
            <a:off x="6029202" y="1536192"/>
            <a:ext cx="21946" cy="530352"/>
          </a:xfrm>
          <a:prstGeom prst="rect">
            <a:avLst/>
          </a:prstGeom>
          <a:solidFill>
            <a:srgbClr val="C99A3A"/>
          </a:solidFill>
          <a:ln/>
        </p:spPr>
        <p:txBody>
          <a:bodyPr/>
          <a:lstStyle/>
          <a:p>
            <a:endParaRPr lang="en-IN"/>
          </a:p>
        </p:txBody>
      </p:sp>
      <p:sp>
        <p:nvSpPr>
          <p:cNvPr id="8" name="Text 6"/>
          <p:cNvSpPr/>
          <p:nvPr/>
        </p:nvSpPr>
        <p:spPr>
          <a:xfrm>
            <a:off x="2816352" y="1965960"/>
            <a:ext cx="914400" cy="201168"/>
          </a:xfrm>
          <a:prstGeom prst="rect">
            <a:avLst/>
          </a:prstGeom>
          <a:noFill/>
          <a:ln/>
        </p:spPr>
        <p:txBody>
          <a:bodyPr wrap="square" lIns="0" tIns="0" rIns="0" bIns="0" rtlCol="0" anchor="ctr"/>
          <a:lstStyle/>
          <a:p>
            <a:pPr marL="0" indent="0">
              <a:buNone/>
            </a:pPr>
            <a:r>
              <a:rPr lang="en-US" sz="800" dirty="0">
                <a:solidFill>
                  <a:srgbClr val="5B6178"/>
                </a:solidFill>
                <a:latin typeface="Calibri" pitchFamily="34" charset="0"/>
                <a:ea typeface="Calibri" pitchFamily="34" charset="-122"/>
                <a:cs typeface="Calibri" pitchFamily="34" charset="-120"/>
              </a:rPr>
              <a:t>min 78</a:t>
            </a:r>
            <a:endParaRPr lang="en-US" sz="800" dirty="0"/>
          </a:p>
        </p:txBody>
      </p:sp>
      <p:sp>
        <p:nvSpPr>
          <p:cNvPr id="9" name="Text 7"/>
          <p:cNvSpPr/>
          <p:nvPr/>
        </p:nvSpPr>
        <p:spPr>
          <a:xfrm>
            <a:off x="8659368" y="1965960"/>
            <a:ext cx="914400" cy="201168"/>
          </a:xfrm>
          <a:prstGeom prst="rect">
            <a:avLst/>
          </a:prstGeom>
          <a:noFill/>
          <a:ln/>
        </p:spPr>
        <p:txBody>
          <a:bodyPr wrap="square" lIns="0" tIns="0" rIns="0" bIns="0" rtlCol="0" anchor="ctr"/>
          <a:lstStyle/>
          <a:p>
            <a:pPr marL="0" indent="0" algn="r">
              <a:buNone/>
            </a:pPr>
            <a:r>
              <a:rPr lang="en-US" sz="800" dirty="0">
                <a:solidFill>
                  <a:srgbClr val="5B6178"/>
                </a:solidFill>
                <a:latin typeface="Calibri" pitchFamily="34" charset="0"/>
                <a:ea typeface="Calibri" pitchFamily="34" charset="-122"/>
                <a:cs typeface="Calibri" pitchFamily="34" charset="-120"/>
              </a:rPr>
              <a:t>max 642</a:t>
            </a:r>
            <a:endParaRPr lang="en-US" sz="800" dirty="0"/>
          </a:p>
        </p:txBody>
      </p:sp>
      <p:sp>
        <p:nvSpPr>
          <p:cNvPr id="10" name="Text 8"/>
          <p:cNvSpPr/>
          <p:nvPr/>
        </p:nvSpPr>
        <p:spPr>
          <a:xfrm>
            <a:off x="9692640" y="1481328"/>
            <a:ext cx="1234440" cy="676656"/>
          </a:xfrm>
          <a:prstGeom prst="rect">
            <a:avLst/>
          </a:prstGeom>
          <a:noFill/>
          <a:ln/>
        </p:spPr>
        <p:txBody>
          <a:bodyPr wrap="square" lIns="0" tIns="0" rIns="0" bIns="0" rtlCol="0" anchor="ctr"/>
          <a:lstStyle/>
          <a:p>
            <a:pPr marL="0" indent="0">
              <a:buNone/>
            </a:pPr>
            <a:r>
              <a:rPr lang="en-US" sz="950" b="1" dirty="0">
                <a:solidFill>
                  <a:srgbClr val="C99A3A"/>
                </a:solidFill>
                <a:latin typeface="Calibri" pitchFamily="34" charset="0"/>
                <a:ea typeface="Calibri" pitchFamily="34" charset="-122"/>
                <a:cs typeface="Calibri" pitchFamily="34" charset="-120"/>
              </a:rPr>
              <a:t>mean 314.79</a:t>
            </a:r>
            <a:endParaRPr lang="en-US" sz="950" dirty="0"/>
          </a:p>
        </p:txBody>
      </p:sp>
      <p:sp>
        <p:nvSpPr>
          <p:cNvPr id="11" name="Text 9"/>
          <p:cNvSpPr/>
          <p:nvPr/>
        </p:nvSpPr>
        <p:spPr>
          <a:xfrm>
            <a:off x="10927080" y="1481328"/>
            <a:ext cx="822960" cy="676656"/>
          </a:xfrm>
          <a:prstGeom prst="rect">
            <a:avLst/>
          </a:prstGeom>
          <a:noFill/>
          <a:ln/>
        </p:spPr>
        <p:txBody>
          <a:bodyPr wrap="square" lIns="0" tIns="0" rIns="0" bIns="0" rtlCol="0" anchor="ctr"/>
          <a:lstStyle/>
          <a:p>
            <a:pPr marL="0" indent="0">
              <a:buNone/>
            </a:pPr>
            <a:r>
              <a:rPr lang="en-US" sz="950" dirty="0">
                <a:solidFill>
                  <a:srgbClr val="5B6178"/>
                </a:solidFill>
                <a:latin typeface="Calibri" pitchFamily="34" charset="0"/>
                <a:ea typeface="Calibri" pitchFamily="34" charset="-122"/>
                <a:cs typeface="Calibri" pitchFamily="34" charset="-120"/>
              </a:rPr>
              <a:t>SD 99.0</a:t>
            </a:r>
            <a:endParaRPr lang="en-US" sz="950" dirty="0"/>
          </a:p>
        </p:txBody>
      </p:sp>
      <p:sp>
        <p:nvSpPr>
          <p:cNvPr id="12" name="Text 10"/>
          <p:cNvSpPr/>
          <p:nvPr/>
        </p:nvSpPr>
        <p:spPr>
          <a:xfrm>
            <a:off x="548640" y="2267712"/>
            <a:ext cx="2148840" cy="676656"/>
          </a:xfrm>
          <a:prstGeom prst="rect">
            <a:avLst/>
          </a:prstGeom>
          <a:noFill/>
          <a:ln/>
        </p:spPr>
        <p:txBody>
          <a:bodyPr wrap="square" lIns="0" tIns="0" rIns="0" bIns="0"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Combo1</a:t>
            </a:r>
            <a:endParaRPr lang="en-US" sz="1250" dirty="0"/>
          </a:p>
        </p:txBody>
      </p:sp>
      <p:sp>
        <p:nvSpPr>
          <p:cNvPr id="13" name="Shape 11"/>
          <p:cNvSpPr/>
          <p:nvPr/>
        </p:nvSpPr>
        <p:spPr>
          <a:xfrm>
            <a:off x="2834640" y="2432304"/>
            <a:ext cx="6720840" cy="310896"/>
          </a:xfrm>
          <a:prstGeom prst="roundRect">
            <a:avLst>
              <a:gd name="adj" fmla="val 14706"/>
            </a:avLst>
          </a:prstGeom>
          <a:solidFill>
            <a:srgbClr val="F5F7FB"/>
          </a:solidFill>
          <a:ln w="9525">
            <a:solidFill>
              <a:srgbClr val="E3E7F1"/>
            </a:solidFill>
            <a:prstDash val="solid"/>
          </a:ln>
        </p:spPr>
        <p:txBody>
          <a:bodyPr/>
          <a:lstStyle/>
          <a:p>
            <a:endParaRPr lang="en-IN"/>
          </a:p>
        </p:txBody>
      </p:sp>
      <p:sp>
        <p:nvSpPr>
          <p:cNvPr id="14" name="Shape 12"/>
          <p:cNvSpPr/>
          <p:nvPr/>
        </p:nvSpPr>
        <p:spPr>
          <a:xfrm>
            <a:off x="2834640" y="2432304"/>
            <a:ext cx="4948982" cy="310896"/>
          </a:xfrm>
          <a:prstGeom prst="roundRect">
            <a:avLst>
              <a:gd name="adj" fmla="val 14706"/>
            </a:avLst>
          </a:prstGeom>
          <a:solidFill>
            <a:srgbClr val="1E2761"/>
          </a:solidFill>
          <a:ln/>
        </p:spPr>
        <p:txBody>
          <a:bodyPr/>
          <a:lstStyle/>
          <a:p>
            <a:endParaRPr lang="en-IN"/>
          </a:p>
        </p:txBody>
      </p:sp>
      <p:sp>
        <p:nvSpPr>
          <p:cNvPr id="15" name="Shape 13"/>
          <p:cNvSpPr/>
          <p:nvPr/>
        </p:nvSpPr>
        <p:spPr>
          <a:xfrm>
            <a:off x="5036453" y="2322576"/>
            <a:ext cx="21946" cy="530352"/>
          </a:xfrm>
          <a:prstGeom prst="rect">
            <a:avLst/>
          </a:prstGeom>
          <a:solidFill>
            <a:srgbClr val="C99A3A"/>
          </a:solidFill>
          <a:ln/>
        </p:spPr>
        <p:txBody>
          <a:bodyPr/>
          <a:lstStyle/>
          <a:p>
            <a:endParaRPr lang="en-IN"/>
          </a:p>
        </p:txBody>
      </p:sp>
      <p:sp>
        <p:nvSpPr>
          <p:cNvPr id="16" name="Text 14"/>
          <p:cNvSpPr/>
          <p:nvPr/>
        </p:nvSpPr>
        <p:spPr>
          <a:xfrm>
            <a:off x="2816352" y="2752344"/>
            <a:ext cx="914400" cy="201168"/>
          </a:xfrm>
          <a:prstGeom prst="rect">
            <a:avLst/>
          </a:prstGeom>
          <a:noFill/>
          <a:ln/>
        </p:spPr>
        <p:txBody>
          <a:bodyPr wrap="square" lIns="0" tIns="0" rIns="0" bIns="0" rtlCol="0" anchor="ctr"/>
          <a:lstStyle/>
          <a:p>
            <a:pPr marL="0" indent="0">
              <a:buNone/>
            </a:pPr>
            <a:r>
              <a:rPr lang="en-US" sz="800" dirty="0">
                <a:solidFill>
                  <a:srgbClr val="5B6178"/>
                </a:solidFill>
                <a:latin typeface="Calibri" pitchFamily="34" charset="0"/>
                <a:ea typeface="Calibri" pitchFamily="34" charset="-122"/>
                <a:cs typeface="Calibri" pitchFamily="34" charset="-120"/>
              </a:rPr>
              <a:t>min 54</a:t>
            </a:r>
            <a:endParaRPr lang="en-US" sz="800" dirty="0"/>
          </a:p>
        </p:txBody>
      </p:sp>
      <p:sp>
        <p:nvSpPr>
          <p:cNvPr id="17" name="Text 15"/>
          <p:cNvSpPr/>
          <p:nvPr/>
        </p:nvSpPr>
        <p:spPr>
          <a:xfrm>
            <a:off x="8659368" y="2752344"/>
            <a:ext cx="914400" cy="201168"/>
          </a:xfrm>
          <a:prstGeom prst="rect">
            <a:avLst/>
          </a:prstGeom>
          <a:noFill/>
          <a:ln/>
        </p:spPr>
        <p:txBody>
          <a:bodyPr wrap="square" lIns="0" tIns="0" rIns="0" bIns="0" rtlCol="0" anchor="ctr"/>
          <a:lstStyle/>
          <a:p>
            <a:pPr marL="0" indent="0" algn="r">
              <a:buNone/>
            </a:pPr>
            <a:r>
              <a:rPr lang="en-US" sz="800" dirty="0">
                <a:solidFill>
                  <a:srgbClr val="5B6178"/>
                </a:solidFill>
                <a:latin typeface="Calibri" pitchFamily="34" charset="0"/>
                <a:ea typeface="Calibri" pitchFamily="34" charset="-122"/>
                <a:cs typeface="Calibri" pitchFamily="34" charset="-120"/>
              </a:rPr>
              <a:t>max 486</a:t>
            </a:r>
            <a:endParaRPr lang="en-US" sz="800" dirty="0"/>
          </a:p>
        </p:txBody>
      </p:sp>
      <p:sp>
        <p:nvSpPr>
          <p:cNvPr id="18" name="Text 16"/>
          <p:cNvSpPr/>
          <p:nvPr/>
        </p:nvSpPr>
        <p:spPr>
          <a:xfrm>
            <a:off x="9692640" y="2267712"/>
            <a:ext cx="1234440" cy="676656"/>
          </a:xfrm>
          <a:prstGeom prst="rect">
            <a:avLst/>
          </a:prstGeom>
          <a:noFill/>
          <a:ln/>
        </p:spPr>
        <p:txBody>
          <a:bodyPr wrap="square" lIns="0" tIns="0" rIns="0" bIns="0" rtlCol="0" anchor="ctr"/>
          <a:lstStyle/>
          <a:p>
            <a:pPr marL="0" indent="0">
              <a:buNone/>
            </a:pPr>
            <a:r>
              <a:rPr lang="en-US" sz="950" b="1" dirty="0">
                <a:solidFill>
                  <a:srgbClr val="C99A3A"/>
                </a:solidFill>
                <a:latin typeface="Calibri" pitchFamily="34" charset="0"/>
                <a:ea typeface="Calibri" pitchFamily="34" charset="-122"/>
                <a:cs typeface="Calibri" pitchFamily="34" charset="-120"/>
              </a:rPr>
              <a:t>mean 217.30</a:t>
            </a:r>
            <a:endParaRPr lang="en-US" sz="950" dirty="0"/>
          </a:p>
        </p:txBody>
      </p:sp>
      <p:sp>
        <p:nvSpPr>
          <p:cNvPr id="19" name="Text 17"/>
          <p:cNvSpPr/>
          <p:nvPr/>
        </p:nvSpPr>
        <p:spPr>
          <a:xfrm>
            <a:off x="10927080" y="2267712"/>
            <a:ext cx="822960" cy="676656"/>
          </a:xfrm>
          <a:prstGeom prst="rect">
            <a:avLst/>
          </a:prstGeom>
          <a:noFill/>
          <a:ln/>
        </p:spPr>
        <p:txBody>
          <a:bodyPr wrap="square" lIns="0" tIns="0" rIns="0" bIns="0" rtlCol="0" anchor="ctr"/>
          <a:lstStyle/>
          <a:p>
            <a:pPr marL="0" indent="0">
              <a:buNone/>
            </a:pPr>
            <a:r>
              <a:rPr lang="en-US" sz="950" dirty="0">
                <a:solidFill>
                  <a:srgbClr val="5B6178"/>
                </a:solidFill>
                <a:latin typeface="Calibri" pitchFamily="34" charset="0"/>
                <a:ea typeface="Calibri" pitchFamily="34" charset="-122"/>
                <a:cs typeface="Calibri" pitchFamily="34" charset="-120"/>
              </a:rPr>
              <a:t>SD 129.6</a:t>
            </a:r>
            <a:endParaRPr lang="en-US" sz="950" dirty="0"/>
          </a:p>
        </p:txBody>
      </p:sp>
      <p:sp>
        <p:nvSpPr>
          <p:cNvPr id="20" name="Text 18"/>
          <p:cNvSpPr/>
          <p:nvPr/>
        </p:nvSpPr>
        <p:spPr>
          <a:xfrm>
            <a:off x="548640" y="3054096"/>
            <a:ext cx="2148840" cy="676656"/>
          </a:xfrm>
          <a:prstGeom prst="rect">
            <a:avLst/>
          </a:prstGeom>
          <a:noFill/>
          <a:ln/>
        </p:spPr>
        <p:txBody>
          <a:bodyPr wrap="square" lIns="0" tIns="0" rIns="0" bIns="0"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Home Appliances</a:t>
            </a:r>
            <a:endParaRPr lang="en-US" sz="1250" dirty="0"/>
          </a:p>
        </p:txBody>
      </p:sp>
      <p:sp>
        <p:nvSpPr>
          <p:cNvPr id="21" name="Shape 19"/>
          <p:cNvSpPr/>
          <p:nvPr/>
        </p:nvSpPr>
        <p:spPr>
          <a:xfrm>
            <a:off x="2834640" y="3218688"/>
            <a:ext cx="6720840" cy="310896"/>
          </a:xfrm>
          <a:prstGeom prst="roundRect">
            <a:avLst>
              <a:gd name="adj" fmla="val 14706"/>
            </a:avLst>
          </a:prstGeom>
          <a:solidFill>
            <a:srgbClr val="F5F7FB"/>
          </a:solidFill>
          <a:ln w="9525">
            <a:solidFill>
              <a:srgbClr val="E3E7F1"/>
            </a:solidFill>
            <a:prstDash val="solid"/>
          </a:ln>
        </p:spPr>
        <p:txBody>
          <a:bodyPr/>
          <a:lstStyle/>
          <a:p>
            <a:endParaRPr lang="en-IN"/>
          </a:p>
        </p:txBody>
      </p:sp>
      <p:sp>
        <p:nvSpPr>
          <p:cNvPr id="22" name="Shape 20"/>
          <p:cNvSpPr/>
          <p:nvPr/>
        </p:nvSpPr>
        <p:spPr>
          <a:xfrm>
            <a:off x="2834640" y="3218688"/>
            <a:ext cx="1405267" cy="310896"/>
          </a:xfrm>
          <a:prstGeom prst="roundRect">
            <a:avLst>
              <a:gd name="adj" fmla="val 14706"/>
            </a:avLst>
          </a:prstGeom>
          <a:solidFill>
            <a:srgbClr val="1E2761"/>
          </a:solidFill>
          <a:ln/>
        </p:spPr>
        <p:txBody>
          <a:bodyPr/>
          <a:lstStyle/>
          <a:p>
            <a:endParaRPr lang="en-IN"/>
          </a:p>
        </p:txBody>
      </p:sp>
      <p:sp>
        <p:nvSpPr>
          <p:cNvPr id="23" name="Shape 21"/>
          <p:cNvSpPr/>
          <p:nvPr/>
        </p:nvSpPr>
        <p:spPr>
          <a:xfrm>
            <a:off x="3569884" y="3108960"/>
            <a:ext cx="21946" cy="530352"/>
          </a:xfrm>
          <a:prstGeom prst="rect">
            <a:avLst/>
          </a:prstGeom>
          <a:solidFill>
            <a:srgbClr val="C99A3A"/>
          </a:solidFill>
          <a:ln/>
        </p:spPr>
        <p:txBody>
          <a:bodyPr/>
          <a:lstStyle/>
          <a:p>
            <a:endParaRPr lang="en-IN"/>
          </a:p>
        </p:txBody>
      </p:sp>
      <p:sp>
        <p:nvSpPr>
          <p:cNvPr id="24" name="Text 22"/>
          <p:cNvSpPr/>
          <p:nvPr/>
        </p:nvSpPr>
        <p:spPr>
          <a:xfrm>
            <a:off x="2816352" y="3538728"/>
            <a:ext cx="914400" cy="201168"/>
          </a:xfrm>
          <a:prstGeom prst="rect">
            <a:avLst/>
          </a:prstGeom>
          <a:noFill/>
          <a:ln/>
        </p:spPr>
        <p:txBody>
          <a:bodyPr wrap="square" lIns="0" tIns="0" rIns="0" bIns="0" rtlCol="0" anchor="ctr"/>
          <a:lstStyle/>
          <a:p>
            <a:pPr marL="0" indent="0">
              <a:buNone/>
            </a:pPr>
            <a:r>
              <a:rPr lang="en-US" sz="800" dirty="0">
                <a:solidFill>
                  <a:srgbClr val="5B6178"/>
                </a:solidFill>
                <a:latin typeface="Calibri" pitchFamily="34" charset="0"/>
                <a:ea typeface="Calibri" pitchFamily="34" charset="-122"/>
                <a:cs typeface="Calibri" pitchFamily="34" charset="-120"/>
              </a:rPr>
              <a:t>min 19</a:t>
            </a:r>
            <a:endParaRPr lang="en-US" sz="800" dirty="0"/>
          </a:p>
        </p:txBody>
      </p:sp>
      <p:sp>
        <p:nvSpPr>
          <p:cNvPr id="25" name="Text 23"/>
          <p:cNvSpPr/>
          <p:nvPr/>
        </p:nvSpPr>
        <p:spPr>
          <a:xfrm>
            <a:off x="8659368" y="3538728"/>
            <a:ext cx="914400" cy="201168"/>
          </a:xfrm>
          <a:prstGeom prst="rect">
            <a:avLst/>
          </a:prstGeom>
          <a:noFill/>
          <a:ln/>
        </p:spPr>
        <p:txBody>
          <a:bodyPr wrap="square" lIns="0" tIns="0" rIns="0" bIns="0" rtlCol="0" anchor="ctr"/>
          <a:lstStyle/>
          <a:p>
            <a:pPr marL="0" indent="0" algn="r">
              <a:buNone/>
            </a:pPr>
            <a:r>
              <a:rPr lang="en-US" sz="800" dirty="0">
                <a:solidFill>
                  <a:srgbClr val="5B6178"/>
                </a:solidFill>
                <a:latin typeface="Calibri" pitchFamily="34" charset="0"/>
                <a:ea typeface="Calibri" pitchFamily="34" charset="-122"/>
                <a:cs typeface="Calibri" pitchFamily="34" charset="-120"/>
              </a:rPr>
              <a:t>max 138</a:t>
            </a:r>
            <a:endParaRPr lang="en-US" sz="800" dirty="0"/>
          </a:p>
        </p:txBody>
      </p:sp>
      <p:sp>
        <p:nvSpPr>
          <p:cNvPr id="26" name="Text 24"/>
          <p:cNvSpPr/>
          <p:nvPr/>
        </p:nvSpPr>
        <p:spPr>
          <a:xfrm>
            <a:off x="9692640" y="3054096"/>
            <a:ext cx="1234440" cy="676656"/>
          </a:xfrm>
          <a:prstGeom prst="rect">
            <a:avLst/>
          </a:prstGeom>
          <a:noFill/>
          <a:ln/>
        </p:spPr>
        <p:txBody>
          <a:bodyPr wrap="square" lIns="0" tIns="0" rIns="0" bIns="0" rtlCol="0" anchor="ctr"/>
          <a:lstStyle/>
          <a:p>
            <a:pPr marL="0" indent="0">
              <a:buNone/>
            </a:pPr>
            <a:r>
              <a:rPr lang="en-US" sz="950" b="1" dirty="0">
                <a:solidFill>
                  <a:srgbClr val="C99A3A"/>
                </a:solidFill>
                <a:latin typeface="Calibri" pitchFamily="34" charset="0"/>
                <a:ea typeface="Calibri" pitchFamily="34" charset="-122"/>
                <a:cs typeface="Calibri" pitchFamily="34" charset="-120"/>
              </a:rPr>
              <a:t>mean 73.28</a:t>
            </a:r>
            <a:endParaRPr lang="en-US" sz="950" dirty="0"/>
          </a:p>
        </p:txBody>
      </p:sp>
      <p:sp>
        <p:nvSpPr>
          <p:cNvPr id="27" name="Text 25"/>
          <p:cNvSpPr/>
          <p:nvPr/>
        </p:nvSpPr>
        <p:spPr>
          <a:xfrm>
            <a:off x="10927080" y="3054096"/>
            <a:ext cx="822960" cy="676656"/>
          </a:xfrm>
          <a:prstGeom prst="rect">
            <a:avLst/>
          </a:prstGeom>
          <a:noFill/>
          <a:ln/>
        </p:spPr>
        <p:txBody>
          <a:bodyPr wrap="square" lIns="0" tIns="0" rIns="0" bIns="0" rtlCol="0" anchor="ctr"/>
          <a:lstStyle/>
          <a:p>
            <a:pPr marL="0" indent="0">
              <a:buNone/>
            </a:pPr>
            <a:r>
              <a:rPr lang="en-US" sz="950" dirty="0">
                <a:solidFill>
                  <a:srgbClr val="5B6178"/>
                </a:solidFill>
                <a:latin typeface="Calibri" pitchFamily="34" charset="0"/>
                <a:ea typeface="Calibri" pitchFamily="34" charset="-122"/>
                <a:cs typeface="Calibri" pitchFamily="34" charset="-120"/>
              </a:rPr>
              <a:t>SD 30.0</a:t>
            </a:r>
            <a:endParaRPr lang="en-US" sz="950" dirty="0"/>
          </a:p>
        </p:txBody>
      </p:sp>
      <p:sp>
        <p:nvSpPr>
          <p:cNvPr id="28" name="Text 26"/>
          <p:cNvSpPr/>
          <p:nvPr/>
        </p:nvSpPr>
        <p:spPr>
          <a:xfrm>
            <a:off x="548640" y="3840480"/>
            <a:ext cx="2148840" cy="676656"/>
          </a:xfrm>
          <a:prstGeom prst="rect">
            <a:avLst/>
          </a:prstGeom>
          <a:noFill/>
          <a:ln/>
        </p:spPr>
        <p:txBody>
          <a:bodyPr wrap="square" lIns="0" tIns="0" rIns="0" bIns="0"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Personal Care</a:t>
            </a:r>
            <a:endParaRPr lang="en-US" sz="1250" dirty="0"/>
          </a:p>
        </p:txBody>
      </p:sp>
      <p:sp>
        <p:nvSpPr>
          <p:cNvPr id="29" name="Shape 27"/>
          <p:cNvSpPr/>
          <p:nvPr/>
        </p:nvSpPr>
        <p:spPr>
          <a:xfrm>
            <a:off x="2834640" y="4005072"/>
            <a:ext cx="6720840" cy="310896"/>
          </a:xfrm>
          <a:prstGeom prst="roundRect">
            <a:avLst>
              <a:gd name="adj" fmla="val 14706"/>
            </a:avLst>
          </a:prstGeom>
          <a:solidFill>
            <a:srgbClr val="F5F7FB"/>
          </a:solidFill>
          <a:ln w="9525">
            <a:solidFill>
              <a:srgbClr val="E3E7F1"/>
            </a:solidFill>
            <a:prstDash val="solid"/>
          </a:ln>
        </p:spPr>
        <p:txBody>
          <a:bodyPr/>
          <a:lstStyle/>
          <a:p>
            <a:endParaRPr lang="en-IN"/>
          </a:p>
        </p:txBody>
      </p:sp>
      <p:sp>
        <p:nvSpPr>
          <p:cNvPr id="30" name="Shape 28"/>
          <p:cNvSpPr/>
          <p:nvPr/>
        </p:nvSpPr>
        <p:spPr>
          <a:xfrm>
            <a:off x="2834640" y="4005072"/>
            <a:ext cx="1741309" cy="310896"/>
          </a:xfrm>
          <a:prstGeom prst="roundRect">
            <a:avLst>
              <a:gd name="adj" fmla="val 14706"/>
            </a:avLst>
          </a:prstGeom>
          <a:solidFill>
            <a:srgbClr val="1E2761"/>
          </a:solidFill>
          <a:ln/>
        </p:spPr>
        <p:txBody>
          <a:bodyPr/>
          <a:lstStyle/>
          <a:p>
            <a:endParaRPr lang="en-IN"/>
          </a:p>
        </p:txBody>
      </p:sp>
      <p:sp>
        <p:nvSpPr>
          <p:cNvPr id="31" name="Shape 29"/>
          <p:cNvSpPr/>
          <p:nvPr/>
        </p:nvSpPr>
        <p:spPr>
          <a:xfrm>
            <a:off x="3473145" y="3895344"/>
            <a:ext cx="21946" cy="530352"/>
          </a:xfrm>
          <a:prstGeom prst="rect">
            <a:avLst/>
          </a:prstGeom>
          <a:solidFill>
            <a:srgbClr val="C99A3A"/>
          </a:solidFill>
          <a:ln/>
        </p:spPr>
        <p:txBody>
          <a:bodyPr/>
          <a:lstStyle/>
          <a:p>
            <a:endParaRPr lang="en-IN"/>
          </a:p>
        </p:txBody>
      </p:sp>
      <p:sp>
        <p:nvSpPr>
          <p:cNvPr id="32" name="Text 30"/>
          <p:cNvSpPr/>
          <p:nvPr/>
        </p:nvSpPr>
        <p:spPr>
          <a:xfrm>
            <a:off x="2816352" y="4325112"/>
            <a:ext cx="914400" cy="201168"/>
          </a:xfrm>
          <a:prstGeom prst="rect">
            <a:avLst/>
          </a:prstGeom>
          <a:noFill/>
          <a:ln/>
        </p:spPr>
        <p:txBody>
          <a:bodyPr wrap="square" lIns="0" tIns="0" rIns="0" bIns="0" rtlCol="0" anchor="ctr"/>
          <a:lstStyle/>
          <a:p>
            <a:pPr marL="0" indent="0">
              <a:buNone/>
            </a:pPr>
            <a:r>
              <a:rPr lang="en-US" sz="800" dirty="0">
                <a:solidFill>
                  <a:srgbClr val="5B6178"/>
                </a:solidFill>
                <a:latin typeface="Calibri" pitchFamily="34" charset="0"/>
                <a:ea typeface="Calibri" pitchFamily="34" charset="-122"/>
                <a:cs typeface="Calibri" pitchFamily="34" charset="-120"/>
              </a:rPr>
              <a:t>min 13</a:t>
            </a:r>
            <a:endParaRPr lang="en-US" sz="800" dirty="0"/>
          </a:p>
        </p:txBody>
      </p:sp>
      <p:sp>
        <p:nvSpPr>
          <p:cNvPr id="33" name="Text 31"/>
          <p:cNvSpPr/>
          <p:nvPr/>
        </p:nvSpPr>
        <p:spPr>
          <a:xfrm>
            <a:off x="8659368" y="4325112"/>
            <a:ext cx="914400" cy="201168"/>
          </a:xfrm>
          <a:prstGeom prst="rect">
            <a:avLst/>
          </a:prstGeom>
          <a:noFill/>
          <a:ln/>
        </p:spPr>
        <p:txBody>
          <a:bodyPr wrap="square" lIns="0" tIns="0" rIns="0" bIns="0" rtlCol="0" anchor="ctr"/>
          <a:lstStyle/>
          <a:p>
            <a:pPr marL="0" indent="0" algn="r">
              <a:buNone/>
            </a:pPr>
            <a:r>
              <a:rPr lang="en-US" sz="800" dirty="0">
                <a:solidFill>
                  <a:srgbClr val="5B6178"/>
                </a:solidFill>
                <a:latin typeface="Calibri" pitchFamily="34" charset="0"/>
                <a:ea typeface="Calibri" pitchFamily="34" charset="-122"/>
                <a:cs typeface="Calibri" pitchFamily="34" charset="-120"/>
              </a:rPr>
              <a:t>max 171</a:t>
            </a:r>
            <a:endParaRPr lang="en-US" sz="800" dirty="0"/>
          </a:p>
        </p:txBody>
      </p:sp>
      <p:sp>
        <p:nvSpPr>
          <p:cNvPr id="34" name="Text 32"/>
          <p:cNvSpPr/>
          <p:nvPr/>
        </p:nvSpPr>
        <p:spPr>
          <a:xfrm>
            <a:off x="9692640" y="3840480"/>
            <a:ext cx="1234440" cy="676656"/>
          </a:xfrm>
          <a:prstGeom prst="rect">
            <a:avLst/>
          </a:prstGeom>
          <a:noFill/>
          <a:ln/>
        </p:spPr>
        <p:txBody>
          <a:bodyPr wrap="square" lIns="0" tIns="0" rIns="0" bIns="0" rtlCol="0" anchor="ctr"/>
          <a:lstStyle/>
          <a:p>
            <a:pPr marL="0" indent="0">
              <a:buNone/>
            </a:pPr>
            <a:r>
              <a:rPr lang="en-US" sz="950" b="1" dirty="0">
                <a:solidFill>
                  <a:srgbClr val="C99A3A"/>
                </a:solidFill>
                <a:latin typeface="Calibri" pitchFamily="34" charset="0"/>
                <a:ea typeface="Calibri" pitchFamily="34" charset="-122"/>
                <a:cs typeface="Calibri" pitchFamily="34" charset="-120"/>
              </a:rPr>
              <a:t>mean 63.78</a:t>
            </a:r>
            <a:endParaRPr lang="en-US" sz="950" dirty="0"/>
          </a:p>
        </p:txBody>
      </p:sp>
      <p:sp>
        <p:nvSpPr>
          <p:cNvPr id="35" name="Text 33"/>
          <p:cNvSpPr/>
          <p:nvPr/>
        </p:nvSpPr>
        <p:spPr>
          <a:xfrm>
            <a:off x="10927080" y="3840480"/>
            <a:ext cx="822960" cy="676656"/>
          </a:xfrm>
          <a:prstGeom prst="rect">
            <a:avLst/>
          </a:prstGeom>
          <a:noFill/>
          <a:ln/>
        </p:spPr>
        <p:txBody>
          <a:bodyPr wrap="square" lIns="0" tIns="0" rIns="0" bIns="0" rtlCol="0" anchor="ctr"/>
          <a:lstStyle/>
          <a:p>
            <a:pPr marL="0" indent="0">
              <a:buNone/>
            </a:pPr>
            <a:r>
              <a:rPr lang="en-US" sz="950" dirty="0">
                <a:solidFill>
                  <a:srgbClr val="5B6178"/>
                </a:solidFill>
                <a:latin typeface="Calibri" pitchFamily="34" charset="0"/>
                <a:ea typeface="Calibri" pitchFamily="34" charset="-122"/>
                <a:cs typeface="Calibri" pitchFamily="34" charset="-120"/>
              </a:rPr>
              <a:t>SD 31.2</a:t>
            </a:r>
            <a:endParaRPr lang="en-US" sz="950" dirty="0"/>
          </a:p>
        </p:txBody>
      </p:sp>
      <p:sp>
        <p:nvSpPr>
          <p:cNvPr id="36" name="Text 34"/>
          <p:cNvSpPr/>
          <p:nvPr/>
        </p:nvSpPr>
        <p:spPr>
          <a:xfrm>
            <a:off x="548640" y="4626864"/>
            <a:ext cx="2148840" cy="676656"/>
          </a:xfrm>
          <a:prstGeom prst="rect">
            <a:avLst/>
          </a:prstGeom>
          <a:noFill/>
          <a:ln/>
        </p:spPr>
        <p:txBody>
          <a:bodyPr wrap="square" lIns="0" tIns="0" rIns="0" bIns="0"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Home Care</a:t>
            </a:r>
            <a:endParaRPr lang="en-US" sz="1250" dirty="0"/>
          </a:p>
        </p:txBody>
      </p:sp>
      <p:sp>
        <p:nvSpPr>
          <p:cNvPr id="37" name="Shape 35"/>
          <p:cNvSpPr/>
          <p:nvPr/>
        </p:nvSpPr>
        <p:spPr>
          <a:xfrm>
            <a:off x="2834640" y="4791456"/>
            <a:ext cx="6720840" cy="310896"/>
          </a:xfrm>
          <a:prstGeom prst="roundRect">
            <a:avLst>
              <a:gd name="adj" fmla="val 14706"/>
            </a:avLst>
          </a:prstGeom>
          <a:solidFill>
            <a:srgbClr val="F5F7FB"/>
          </a:solidFill>
          <a:ln w="9525">
            <a:solidFill>
              <a:srgbClr val="E3E7F1"/>
            </a:solidFill>
            <a:prstDash val="solid"/>
          </a:ln>
        </p:spPr>
        <p:txBody>
          <a:bodyPr/>
          <a:lstStyle/>
          <a:p>
            <a:endParaRPr lang="en-IN"/>
          </a:p>
        </p:txBody>
      </p:sp>
      <p:sp>
        <p:nvSpPr>
          <p:cNvPr id="38" name="Shape 36"/>
          <p:cNvSpPr/>
          <p:nvPr/>
        </p:nvSpPr>
        <p:spPr>
          <a:xfrm>
            <a:off x="2834640" y="4791456"/>
            <a:ext cx="1384900" cy="310896"/>
          </a:xfrm>
          <a:prstGeom prst="roundRect">
            <a:avLst>
              <a:gd name="adj" fmla="val 14706"/>
            </a:avLst>
          </a:prstGeom>
          <a:solidFill>
            <a:srgbClr val="1E2761"/>
          </a:solidFill>
          <a:ln/>
        </p:spPr>
        <p:txBody>
          <a:bodyPr/>
          <a:lstStyle/>
          <a:p>
            <a:endParaRPr lang="en-IN"/>
          </a:p>
        </p:txBody>
      </p:sp>
      <p:sp>
        <p:nvSpPr>
          <p:cNvPr id="39" name="Shape 37"/>
          <p:cNvSpPr/>
          <p:nvPr/>
        </p:nvSpPr>
        <p:spPr>
          <a:xfrm>
            <a:off x="3328545" y="4681728"/>
            <a:ext cx="21946" cy="530352"/>
          </a:xfrm>
          <a:prstGeom prst="rect">
            <a:avLst/>
          </a:prstGeom>
          <a:solidFill>
            <a:srgbClr val="C99A3A"/>
          </a:solidFill>
          <a:ln/>
        </p:spPr>
        <p:txBody>
          <a:bodyPr/>
          <a:lstStyle/>
          <a:p>
            <a:endParaRPr lang="en-IN"/>
          </a:p>
        </p:txBody>
      </p:sp>
      <p:sp>
        <p:nvSpPr>
          <p:cNvPr id="40" name="Text 38"/>
          <p:cNvSpPr/>
          <p:nvPr/>
        </p:nvSpPr>
        <p:spPr>
          <a:xfrm>
            <a:off x="2816352" y="5111496"/>
            <a:ext cx="914400" cy="201168"/>
          </a:xfrm>
          <a:prstGeom prst="rect">
            <a:avLst/>
          </a:prstGeom>
          <a:noFill/>
          <a:ln/>
        </p:spPr>
        <p:txBody>
          <a:bodyPr wrap="square" lIns="0" tIns="0" rIns="0" bIns="0" rtlCol="0" anchor="ctr"/>
          <a:lstStyle/>
          <a:p>
            <a:pPr marL="0" indent="0">
              <a:buNone/>
            </a:pPr>
            <a:r>
              <a:rPr lang="en-US" sz="800" dirty="0">
                <a:solidFill>
                  <a:srgbClr val="5B6178"/>
                </a:solidFill>
                <a:latin typeface="Calibri" pitchFamily="34" charset="0"/>
                <a:ea typeface="Calibri" pitchFamily="34" charset="-122"/>
                <a:cs typeface="Calibri" pitchFamily="34" charset="-120"/>
              </a:rPr>
              <a:t>min 10</a:t>
            </a:r>
            <a:endParaRPr lang="en-US" sz="800" dirty="0"/>
          </a:p>
        </p:txBody>
      </p:sp>
      <p:sp>
        <p:nvSpPr>
          <p:cNvPr id="41" name="Text 39"/>
          <p:cNvSpPr/>
          <p:nvPr/>
        </p:nvSpPr>
        <p:spPr>
          <a:xfrm>
            <a:off x="8659368" y="5111496"/>
            <a:ext cx="914400" cy="201168"/>
          </a:xfrm>
          <a:prstGeom prst="rect">
            <a:avLst/>
          </a:prstGeom>
          <a:noFill/>
          <a:ln/>
        </p:spPr>
        <p:txBody>
          <a:bodyPr wrap="square" lIns="0" tIns="0" rIns="0" bIns="0" rtlCol="0" anchor="ctr"/>
          <a:lstStyle/>
          <a:p>
            <a:pPr marL="0" indent="0" algn="r">
              <a:buNone/>
            </a:pPr>
            <a:r>
              <a:rPr lang="en-US" sz="800" dirty="0">
                <a:solidFill>
                  <a:srgbClr val="5B6178"/>
                </a:solidFill>
                <a:latin typeface="Calibri" pitchFamily="34" charset="0"/>
                <a:ea typeface="Calibri" pitchFamily="34" charset="-122"/>
                <a:cs typeface="Calibri" pitchFamily="34" charset="-120"/>
              </a:rPr>
              <a:t>max 136</a:t>
            </a:r>
            <a:endParaRPr lang="en-US" sz="800" dirty="0"/>
          </a:p>
        </p:txBody>
      </p:sp>
      <p:sp>
        <p:nvSpPr>
          <p:cNvPr id="42" name="Text 40"/>
          <p:cNvSpPr/>
          <p:nvPr/>
        </p:nvSpPr>
        <p:spPr>
          <a:xfrm>
            <a:off x="9692640" y="4626864"/>
            <a:ext cx="1234440" cy="676656"/>
          </a:xfrm>
          <a:prstGeom prst="rect">
            <a:avLst/>
          </a:prstGeom>
          <a:noFill/>
          <a:ln/>
        </p:spPr>
        <p:txBody>
          <a:bodyPr wrap="square" lIns="0" tIns="0" rIns="0" bIns="0" rtlCol="0" anchor="ctr"/>
          <a:lstStyle/>
          <a:p>
            <a:pPr marL="0" indent="0">
              <a:buNone/>
            </a:pPr>
            <a:r>
              <a:rPr lang="en-US" sz="950" b="1" dirty="0">
                <a:solidFill>
                  <a:srgbClr val="C99A3A"/>
                </a:solidFill>
                <a:latin typeface="Calibri" pitchFamily="34" charset="0"/>
                <a:ea typeface="Calibri" pitchFamily="34" charset="-122"/>
                <a:cs typeface="Calibri" pitchFamily="34" charset="-120"/>
              </a:rPr>
              <a:t>mean 49.58</a:t>
            </a:r>
            <a:endParaRPr lang="en-US" sz="950" dirty="0"/>
          </a:p>
        </p:txBody>
      </p:sp>
      <p:sp>
        <p:nvSpPr>
          <p:cNvPr id="43" name="Text 41"/>
          <p:cNvSpPr/>
          <p:nvPr/>
        </p:nvSpPr>
        <p:spPr>
          <a:xfrm>
            <a:off x="10927080" y="4626864"/>
            <a:ext cx="822960" cy="676656"/>
          </a:xfrm>
          <a:prstGeom prst="rect">
            <a:avLst/>
          </a:prstGeom>
          <a:noFill/>
          <a:ln/>
        </p:spPr>
        <p:txBody>
          <a:bodyPr wrap="square" lIns="0" tIns="0" rIns="0" bIns="0" rtlCol="0" anchor="ctr"/>
          <a:lstStyle/>
          <a:p>
            <a:pPr marL="0" indent="0">
              <a:buNone/>
            </a:pPr>
            <a:r>
              <a:rPr lang="en-US" sz="950" dirty="0">
                <a:solidFill>
                  <a:srgbClr val="5B6178"/>
                </a:solidFill>
                <a:latin typeface="Calibri" pitchFamily="34" charset="0"/>
                <a:ea typeface="Calibri" pitchFamily="34" charset="-122"/>
                <a:cs typeface="Calibri" pitchFamily="34" charset="-120"/>
              </a:rPr>
              <a:t>SD 27.3</a:t>
            </a:r>
            <a:endParaRPr lang="en-US" sz="950" dirty="0"/>
          </a:p>
        </p:txBody>
      </p:sp>
      <p:sp>
        <p:nvSpPr>
          <p:cNvPr id="44" name="Text 42"/>
          <p:cNvSpPr/>
          <p:nvPr/>
        </p:nvSpPr>
        <p:spPr>
          <a:xfrm>
            <a:off x="548640" y="5431536"/>
            <a:ext cx="11064240" cy="274320"/>
          </a:xfrm>
          <a:prstGeom prst="rect">
            <a:avLst/>
          </a:prstGeom>
          <a:noFill/>
          <a:ln/>
        </p:spPr>
        <p:txBody>
          <a:bodyPr wrap="square" lIns="0" tIns="0" rIns="0" bIns="0" rtlCol="0" anchor="ctr"/>
          <a:lstStyle/>
          <a:p>
            <a:pPr marL="0" indent="0">
              <a:buNone/>
            </a:pPr>
            <a:r>
              <a:rPr lang="en-US" sz="950" i="1" dirty="0">
                <a:solidFill>
                  <a:srgbClr val="5B6178"/>
                </a:solidFill>
                <a:latin typeface="Calibri" pitchFamily="34" charset="0"/>
                <a:ea typeface="Calibri" pitchFamily="34" charset="-122"/>
                <a:cs typeface="Calibri" pitchFamily="34" charset="-120"/>
              </a:rPr>
              <a:t>Bar spans min → max units sold before promotion; gold marker = mean. (Bin-level histogram data was not provided in the source summary — bars represent the reported min / mean / median / max / SD.)</a:t>
            </a:r>
            <a:endParaRPr lang="en-US" sz="950" dirty="0"/>
          </a:p>
        </p:txBody>
      </p:sp>
      <p:sp>
        <p:nvSpPr>
          <p:cNvPr id="45" name="Shape 43"/>
          <p:cNvSpPr/>
          <p:nvPr/>
        </p:nvSpPr>
        <p:spPr>
          <a:xfrm>
            <a:off x="548640" y="5989320"/>
            <a:ext cx="11091672" cy="603504"/>
          </a:xfrm>
          <a:prstGeom prst="roundRect">
            <a:avLst>
              <a:gd name="adj" fmla="val 9091"/>
            </a:avLst>
          </a:prstGeom>
          <a:solidFill>
            <a:srgbClr val="EDF2FC"/>
          </a:solidFill>
          <a:ln w="9525">
            <a:solidFill>
              <a:srgbClr val="CADCFC"/>
            </a:solidFill>
            <a:prstDash val="solid"/>
          </a:ln>
        </p:spPr>
        <p:txBody>
          <a:bodyPr/>
          <a:lstStyle/>
          <a:p>
            <a:endParaRPr lang="en-IN"/>
          </a:p>
        </p:txBody>
      </p:sp>
      <p:sp>
        <p:nvSpPr>
          <p:cNvPr id="46" name="Text 44"/>
          <p:cNvSpPr/>
          <p:nvPr/>
        </p:nvSpPr>
        <p:spPr>
          <a:xfrm>
            <a:off x="777240" y="5989320"/>
            <a:ext cx="10634472" cy="603504"/>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BUSINESS TAKEAWAY   </a:t>
            </a:r>
            <a:r>
              <a:rPr lang="en-US" sz="1100" dirty="0">
                <a:solidFill>
                  <a:srgbClr val="1B1F3B"/>
                </a:solidFill>
                <a:latin typeface="Calibri" pitchFamily="34" charset="0"/>
                <a:ea typeface="Calibri" pitchFamily="34" charset="-122"/>
                <a:cs typeface="Calibri" pitchFamily="34" charset="-120"/>
              </a:rPr>
              <a:t>Use category-specific promotional strategies rather than one plan for all. Optimize inventory and promotion depth for Grocery &amp; Staples' high baseline demand; use bundles, incentives, and stronger visibility to lift Home Care and Personal Care, the lowest-baseline categories.</a:t>
            </a:r>
            <a:endParaRPr lang="en-US" sz="1100" dirty="0"/>
          </a:p>
        </p:txBody>
      </p:sp>
      <p:sp>
        <p:nvSpPr>
          <p:cNvPr id="47" name="Text 45"/>
          <p:cNvSpPr/>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5B6178"/>
                </a:solidFill>
                <a:latin typeface="Calibri" pitchFamily="34" charset="0"/>
                <a:ea typeface="Calibri" pitchFamily="34" charset="-122"/>
                <a:cs typeface="Calibri" pitchFamily="34" charset="-120"/>
              </a:rPr>
              <a:t>Nova Mart Campaign Performance Analysis</a:t>
            </a:r>
            <a:endParaRPr lang="en-US" sz="900" dirty="0"/>
          </a:p>
        </p:txBody>
      </p:sp>
      <p:sp>
        <p:nvSpPr>
          <p:cNvPr id="48" name="Text 46"/>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5B61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150" dirty="0">
                <a:solidFill>
                  <a:srgbClr val="C99A3A"/>
                </a:solidFill>
                <a:latin typeface="Calibri" pitchFamily="34" charset="0"/>
                <a:ea typeface="Calibri" pitchFamily="34" charset="-122"/>
                <a:cs typeface="Calibri" pitchFamily="34" charset="-120"/>
              </a:rPr>
              <a:t>Q5 · PROMOTION REACH</a:t>
            </a:r>
            <a:endParaRPr lang="en-US" sz="1200" dirty="0"/>
          </a:p>
        </p:txBody>
      </p:sp>
      <p:sp>
        <p:nvSpPr>
          <p:cNvPr id="3" name="Text 1"/>
          <p:cNvSpPr/>
          <p:nvPr/>
        </p:nvSpPr>
        <p:spPr>
          <a:xfrm>
            <a:off x="548640" y="566928"/>
            <a:ext cx="11064240" cy="59436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Promotions Lifted Sales Volume in Every City</a:t>
            </a:r>
            <a:endParaRPr lang="en-US" sz="2800" dirty="0"/>
          </a:p>
        </p:txBody>
      </p:sp>
      <p:graphicFrame>
        <p:nvGraphicFramePr>
          <p:cNvPr id="4" name="Chart 0"/>
          <p:cNvGraphicFramePr/>
          <p:nvPr/>
        </p:nvGraphicFramePr>
        <p:xfrm>
          <a:off x="548640" y="1417320"/>
          <a:ext cx="11091672"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48640" y="5806440"/>
            <a:ext cx="11091672" cy="603504"/>
          </a:xfrm>
          <a:prstGeom prst="roundRect">
            <a:avLst>
              <a:gd name="adj" fmla="val 9091"/>
            </a:avLst>
          </a:prstGeom>
          <a:solidFill>
            <a:srgbClr val="EDF2FC"/>
          </a:solidFill>
          <a:ln w="9525">
            <a:solidFill>
              <a:srgbClr val="CADCFC"/>
            </a:solidFill>
            <a:prstDash val="solid"/>
          </a:ln>
        </p:spPr>
        <p:txBody>
          <a:bodyPr/>
          <a:lstStyle/>
          <a:p>
            <a:endParaRPr lang="en-IN"/>
          </a:p>
        </p:txBody>
      </p:sp>
      <p:sp>
        <p:nvSpPr>
          <p:cNvPr id="6" name="Text 3"/>
          <p:cNvSpPr/>
          <p:nvPr/>
        </p:nvSpPr>
        <p:spPr>
          <a:xfrm>
            <a:off x="777240" y="5806440"/>
            <a:ext cx="10634472" cy="603504"/>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BUSINESS TAKEAWAY   </a:t>
            </a:r>
            <a:r>
              <a:rPr lang="en-US" sz="1100" dirty="0">
                <a:solidFill>
                  <a:srgbClr val="1B1F3B"/>
                </a:solidFill>
                <a:latin typeface="Calibri" pitchFamily="34" charset="0"/>
                <a:ea typeface="Calibri" pitchFamily="34" charset="-122"/>
                <a:cs typeface="Calibri" pitchFamily="34" charset="-120"/>
              </a:rPr>
              <a:t>Every city cleared roughly 99% ISU, confirming promotions broadly increased volume network-wide. Madurai's outsized 121.28% response is worth studying to see whether its store mix, promo cadence, or execution can be replicated in lower-responding cities like Visakhapatnam (99.07%) and Mangalore (100.28%).</a:t>
            </a:r>
            <a:endParaRPr lang="en-US" sz="1100" dirty="0"/>
          </a:p>
        </p:txBody>
      </p:sp>
      <p:sp>
        <p:nvSpPr>
          <p:cNvPr id="7" name="Text 4"/>
          <p:cNvSpPr/>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5B6178"/>
                </a:solidFill>
                <a:latin typeface="Calibri" pitchFamily="34" charset="0"/>
                <a:ea typeface="Calibri" pitchFamily="34" charset="-122"/>
                <a:cs typeface="Calibri" pitchFamily="34" charset="-120"/>
              </a:rPr>
              <a:t>Nova Mart Campaign Performance Analysis</a:t>
            </a:r>
            <a:endParaRPr lang="en-US" sz="900" dirty="0"/>
          </a:p>
        </p:txBody>
      </p:sp>
      <p:sp>
        <p:nvSpPr>
          <p:cNvPr id="8" name="Text 5"/>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5B61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150" dirty="0">
                <a:solidFill>
                  <a:srgbClr val="C99A3A"/>
                </a:solidFill>
                <a:latin typeface="Calibri" pitchFamily="34" charset="0"/>
                <a:ea typeface="Calibri" pitchFamily="34" charset="-122"/>
                <a:cs typeface="Calibri" pitchFamily="34" charset="-120"/>
              </a:rPr>
              <a:t>Q6 · PROMOTION MIX — HYDERABAD</a:t>
            </a:r>
            <a:endParaRPr lang="en-US" sz="1200" dirty="0"/>
          </a:p>
        </p:txBody>
      </p:sp>
      <p:sp>
        <p:nvSpPr>
          <p:cNvPr id="3" name="Text 1"/>
          <p:cNvSpPr/>
          <p:nvPr/>
        </p:nvSpPr>
        <p:spPr>
          <a:xfrm>
            <a:off x="548640" y="566928"/>
            <a:ext cx="11064240" cy="59436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Volume and Revenue Reward Different Promotions</a:t>
            </a:r>
            <a:endParaRPr lang="en-US" sz="2800" dirty="0"/>
          </a:p>
        </p:txBody>
      </p:sp>
      <p:graphicFrame>
        <p:nvGraphicFramePr>
          <p:cNvPr id="4" name="Chart 0"/>
          <p:cNvGraphicFramePr/>
          <p:nvPr/>
        </p:nvGraphicFramePr>
        <p:xfrm>
          <a:off x="548640" y="1371600"/>
          <a:ext cx="6949440" cy="46177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7726680" y="1417320"/>
            <a:ext cx="3931920" cy="256032"/>
          </a:xfrm>
          <a:prstGeom prst="rect">
            <a:avLst/>
          </a:prstGeom>
          <a:noFill/>
          <a:ln/>
        </p:spPr>
        <p:txBody>
          <a:bodyPr wrap="square" lIns="0" tIns="0" rIns="0" bIns="0" rtlCol="0" anchor="ctr"/>
          <a:lstStyle/>
          <a:p>
            <a:pPr marL="0" indent="0">
              <a:buNone/>
            </a:pPr>
            <a:r>
              <a:rPr lang="en-US" sz="1050" b="1" kern="0" spc="100" dirty="0">
                <a:solidFill>
                  <a:srgbClr val="C99A3A"/>
                </a:solidFill>
                <a:latin typeface="Calibri" pitchFamily="34" charset="0"/>
                <a:ea typeface="Calibri" pitchFamily="34" charset="-122"/>
                <a:cs typeface="Calibri" pitchFamily="34" charset="-120"/>
              </a:rPr>
              <a:t>READING THE QUADRANTS</a:t>
            </a:r>
            <a:endParaRPr lang="en-US" sz="1050" dirty="0"/>
          </a:p>
        </p:txBody>
      </p:sp>
      <p:sp>
        <p:nvSpPr>
          <p:cNvPr id="6" name="Shape 3"/>
          <p:cNvSpPr/>
          <p:nvPr/>
        </p:nvSpPr>
        <p:spPr>
          <a:xfrm>
            <a:off x="7726680" y="1792224"/>
            <a:ext cx="118872" cy="118872"/>
          </a:xfrm>
          <a:prstGeom prst="ellipse">
            <a:avLst/>
          </a:prstGeom>
          <a:solidFill>
            <a:srgbClr val="1E2761"/>
          </a:solidFill>
          <a:ln/>
        </p:spPr>
        <p:txBody>
          <a:bodyPr/>
          <a:lstStyle/>
          <a:p>
            <a:endParaRPr lang="en-IN"/>
          </a:p>
        </p:txBody>
      </p:sp>
      <p:sp>
        <p:nvSpPr>
          <p:cNvPr id="7" name="Text 4"/>
          <p:cNvSpPr/>
          <p:nvPr/>
        </p:nvSpPr>
        <p:spPr>
          <a:xfrm>
            <a:off x="7955280" y="1682496"/>
            <a:ext cx="3703320" cy="566928"/>
          </a:xfrm>
          <a:prstGeom prst="rect">
            <a:avLst/>
          </a:prstGeom>
          <a:noFill/>
          <a:ln/>
        </p:spPr>
        <p:txBody>
          <a:bodyPr wrap="square" lIns="0" tIns="0" rIns="0" bIns="0" rtlCol="0" anchor="ctr"/>
          <a:lstStyle/>
          <a:p>
            <a:pPr marL="0" indent="0">
              <a:lnSpc>
                <a:spcPct val="110000"/>
              </a:lnSpc>
              <a:buNone/>
            </a:pPr>
            <a:r>
              <a:rPr lang="en-US" sz="1150" b="1" dirty="0">
                <a:solidFill>
                  <a:srgbClr val="1B1F3B"/>
                </a:solidFill>
                <a:latin typeface="Calibri" pitchFamily="34" charset="0"/>
                <a:ea typeface="Calibri" pitchFamily="34" charset="-122"/>
                <a:cs typeface="Calibri" pitchFamily="34" charset="-120"/>
              </a:rPr>
              <a:t>BOGOF   </a:t>
            </a:r>
            <a:r>
              <a:rPr lang="en-US" sz="950" dirty="0">
                <a:solidFill>
                  <a:srgbClr val="5B6178"/>
                </a:solidFill>
                <a:latin typeface="Calibri" pitchFamily="34" charset="0"/>
                <a:ea typeface="Calibri" pitchFamily="34" charset="-122"/>
                <a:cs typeface="Calibri" pitchFamily="34" charset="-120"/>
              </a:rPr>
              <a:t>ISU 252.83%  ·  IR 74.12%</a:t>
            </a:r>
            <a:endParaRPr lang="en-US" sz="1150" dirty="0"/>
          </a:p>
          <a:p>
            <a:pPr marL="0" indent="0">
              <a:lnSpc>
                <a:spcPct val="110000"/>
              </a:lnSpc>
              <a:buNone/>
            </a:pPr>
            <a:r>
              <a:rPr lang="en-US" sz="1000" i="1" dirty="0">
                <a:solidFill>
                  <a:srgbClr val="1E2761"/>
                </a:solidFill>
                <a:latin typeface="Calibri" pitchFamily="34" charset="0"/>
                <a:ea typeface="Calibri" pitchFamily="34" charset="-122"/>
                <a:cs typeface="Calibri" pitchFamily="34" charset="-120"/>
              </a:rPr>
              <a:t>Maximizes volume</a:t>
            </a:r>
            <a:endParaRPr lang="en-US" sz="1150" dirty="0"/>
          </a:p>
        </p:txBody>
      </p:sp>
      <p:sp>
        <p:nvSpPr>
          <p:cNvPr id="8" name="Shape 5"/>
          <p:cNvSpPr/>
          <p:nvPr/>
        </p:nvSpPr>
        <p:spPr>
          <a:xfrm>
            <a:off x="7726680" y="2450592"/>
            <a:ext cx="118872" cy="118872"/>
          </a:xfrm>
          <a:prstGeom prst="ellipse">
            <a:avLst/>
          </a:prstGeom>
          <a:solidFill>
            <a:srgbClr val="1B7F5C"/>
          </a:solidFill>
          <a:ln/>
        </p:spPr>
        <p:txBody>
          <a:bodyPr/>
          <a:lstStyle/>
          <a:p>
            <a:endParaRPr lang="en-IN"/>
          </a:p>
        </p:txBody>
      </p:sp>
      <p:sp>
        <p:nvSpPr>
          <p:cNvPr id="9" name="Text 6"/>
          <p:cNvSpPr/>
          <p:nvPr/>
        </p:nvSpPr>
        <p:spPr>
          <a:xfrm>
            <a:off x="7955280" y="2340864"/>
            <a:ext cx="3703320" cy="566928"/>
          </a:xfrm>
          <a:prstGeom prst="rect">
            <a:avLst/>
          </a:prstGeom>
          <a:noFill/>
          <a:ln/>
        </p:spPr>
        <p:txBody>
          <a:bodyPr wrap="square" lIns="0" tIns="0" rIns="0" bIns="0" rtlCol="0" anchor="ctr"/>
          <a:lstStyle/>
          <a:p>
            <a:pPr marL="0" indent="0">
              <a:lnSpc>
                <a:spcPct val="110000"/>
              </a:lnSpc>
              <a:buNone/>
            </a:pPr>
            <a:r>
              <a:rPr lang="en-US" sz="1150" b="1" dirty="0">
                <a:solidFill>
                  <a:srgbClr val="1B1F3B"/>
                </a:solidFill>
                <a:latin typeface="Calibri" pitchFamily="34" charset="0"/>
                <a:ea typeface="Calibri" pitchFamily="34" charset="-122"/>
                <a:cs typeface="Calibri" pitchFamily="34" charset="-120"/>
              </a:rPr>
              <a:t>500 Cashback   </a:t>
            </a:r>
            <a:r>
              <a:rPr lang="en-US" sz="950" dirty="0">
                <a:solidFill>
                  <a:srgbClr val="5B6178"/>
                </a:solidFill>
                <a:latin typeface="Calibri" pitchFamily="34" charset="0"/>
                <a:ea typeface="Calibri" pitchFamily="34" charset="-122"/>
                <a:cs typeface="Calibri" pitchFamily="34" charset="-120"/>
              </a:rPr>
              <a:t>ISU 167.38%  ·  IR 122.82%</a:t>
            </a:r>
            <a:endParaRPr lang="en-US" sz="1150" dirty="0"/>
          </a:p>
          <a:p>
            <a:pPr marL="0" indent="0">
              <a:lnSpc>
                <a:spcPct val="110000"/>
              </a:lnSpc>
              <a:buNone/>
            </a:pPr>
            <a:r>
              <a:rPr lang="en-US" sz="1000" i="1" dirty="0">
                <a:solidFill>
                  <a:srgbClr val="1B7F5C"/>
                </a:solidFill>
                <a:latin typeface="Calibri" pitchFamily="34" charset="0"/>
                <a:ea typeface="Calibri" pitchFamily="34" charset="-122"/>
                <a:cs typeface="Calibri" pitchFamily="34" charset="-120"/>
              </a:rPr>
              <a:t>Maximizes revenue</a:t>
            </a:r>
            <a:endParaRPr lang="en-US" sz="1150" dirty="0"/>
          </a:p>
        </p:txBody>
      </p:sp>
      <p:sp>
        <p:nvSpPr>
          <p:cNvPr id="10" name="Shape 7"/>
          <p:cNvSpPr/>
          <p:nvPr/>
        </p:nvSpPr>
        <p:spPr>
          <a:xfrm>
            <a:off x="7726680" y="3108960"/>
            <a:ext cx="118872" cy="118872"/>
          </a:xfrm>
          <a:prstGeom prst="ellipse">
            <a:avLst/>
          </a:prstGeom>
          <a:solidFill>
            <a:srgbClr val="C99A3A"/>
          </a:solidFill>
          <a:ln/>
        </p:spPr>
        <p:txBody>
          <a:bodyPr/>
          <a:lstStyle/>
          <a:p>
            <a:endParaRPr lang="en-IN"/>
          </a:p>
        </p:txBody>
      </p:sp>
      <p:sp>
        <p:nvSpPr>
          <p:cNvPr id="11" name="Text 8"/>
          <p:cNvSpPr/>
          <p:nvPr/>
        </p:nvSpPr>
        <p:spPr>
          <a:xfrm>
            <a:off x="7955280" y="2999232"/>
            <a:ext cx="3703320" cy="566928"/>
          </a:xfrm>
          <a:prstGeom prst="rect">
            <a:avLst/>
          </a:prstGeom>
          <a:noFill/>
          <a:ln/>
        </p:spPr>
        <p:txBody>
          <a:bodyPr wrap="square" lIns="0" tIns="0" rIns="0" bIns="0" rtlCol="0" anchor="ctr"/>
          <a:lstStyle/>
          <a:p>
            <a:pPr marL="0" indent="0">
              <a:lnSpc>
                <a:spcPct val="110000"/>
              </a:lnSpc>
              <a:buNone/>
            </a:pPr>
            <a:r>
              <a:rPr lang="en-US" sz="1150" b="1" dirty="0">
                <a:solidFill>
                  <a:srgbClr val="1B1F3B"/>
                </a:solidFill>
                <a:latin typeface="Calibri" pitchFamily="34" charset="0"/>
                <a:ea typeface="Calibri" pitchFamily="34" charset="-122"/>
                <a:cs typeface="Calibri" pitchFamily="34" charset="-120"/>
              </a:rPr>
              <a:t>33% OFF   </a:t>
            </a:r>
            <a:r>
              <a:rPr lang="en-US" sz="950" dirty="0">
                <a:solidFill>
                  <a:srgbClr val="5B6178"/>
                </a:solidFill>
                <a:latin typeface="Calibri" pitchFamily="34" charset="0"/>
                <a:ea typeface="Calibri" pitchFamily="34" charset="-122"/>
                <a:cs typeface="Calibri" pitchFamily="34" charset="-120"/>
              </a:rPr>
              <a:t>ISU 45.17%  ·  IR -2.98%</a:t>
            </a:r>
            <a:endParaRPr lang="en-US" sz="1150" dirty="0"/>
          </a:p>
          <a:p>
            <a:pPr marL="0" indent="0">
              <a:lnSpc>
                <a:spcPct val="110000"/>
              </a:lnSpc>
              <a:buNone/>
            </a:pPr>
            <a:r>
              <a:rPr lang="en-US" sz="1000" i="1" dirty="0">
                <a:solidFill>
                  <a:srgbClr val="C99A3A"/>
                </a:solidFill>
                <a:latin typeface="Calibri" pitchFamily="34" charset="0"/>
                <a:ea typeface="Calibri" pitchFamily="34" charset="-122"/>
                <a:cs typeface="Calibri" pitchFamily="34" charset="-120"/>
              </a:rPr>
              <a:t>Volume up, revenue flat/down</a:t>
            </a:r>
            <a:endParaRPr lang="en-US" sz="1150" dirty="0"/>
          </a:p>
        </p:txBody>
      </p:sp>
      <p:sp>
        <p:nvSpPr>
          <p:cNvPr id="12" name="Shape 9"/>
          <p:cNvSpPr/>
          <p:nvPr/>
        </p:nvSpPr>
        <p:spPr>
          <a:xfrm>
            <a:off x="7726680" y="3767328"/>
            <a:ext cx="118872" cy="118872"/>
          </a:xfrm>
          <a:prstGeom prst="ellipse">
            <a:avLst/>
          </a:prstGeom>
          <a:solidFill>
            <a:srgbClr val="C0392B"/>
          </a:solidFill>
          <a:ln/>
        </p:spPr>
        <p:txBody>
          <a:bodyPr/>
          <a:lstStyle/>
          <a:p>
            <a:endParaRPr lang="en-IN"/>
          </a:p>
        </p:txBody>
      </p:sp>
      <p:sp>
        <p:nvSpPr>
          <p:cNvPr id="13" name="Text 10"/>
          <p:cNvSpPr/>
          <p:nvPr/>
        </p:nvSpPr>
        <p:spPr>
          <a:xfrm>
            <a:off x="7955280" y="3657600"/>
            <a:ext cx="3703320" cy="566928"/>
          </a:xfrm>
          <a:prstGeom prst="rect">
            <a:avLst/>
          </a:prstGeom>
          <a:noFill/>
          <a:ln/>
        </p:spPr>
        <p:txBody>
          <a:bodyPr wrap="square" lIns="0" tIns="0" rIns="0" bIns="0" rtlCol="0" anchor="ctr"/>
          <a:lstStyle/>
          <a:p>
            <a:pPr marL="0" indent="0">
              <a:lnSpc>
                <a:spcPct val="110000"/>
              </a:lnSpc>
              <a:buNone/>
            </a:pPr>
            <a:r>
              <a:rPr lang="en-US" sz="1150" b="1" dirty="0">
                <a:solidFill>
                  <a:srgbClr val="1B1F3B"/>
                </a:solidFill>
                <a:latin typeface="Calibri" pitchFamily="34" charset="0"/>
                <a:ea typeface="Calibri" pitchFamily="34" charset="-122"/>
                <a:cs typeface="Calibri" pitchFamily="34" charset="-120"/>
              </a:rPr>
              <a:t>50% OFF   </a:t>
            </a:r>
            <a:r>
              <a:rPr lang="en-US" sz="950" dirty="0">
                <a:solidFill>
                  <a:srgbClr val="5B6178"/>
                </a:solidFill>
                <a:latin typeface="Calibri" pitchFamily="34" charset="0"/>
                <a:ea typeface="Calibri" pitchFamily="34" charset="-122"/>
                <a:cs typeface="Calibri" pitchFamily="34" charset="-120"/>
              </a:rPr>
              <a:t>ISU 35.94%  ·  IR -31.99%</a:t>
            </a:r>
            <a:endParaRPr lang="en-US" sz="1150" dirty="0"/>
          </a:p>
          <a:p>
            <a:pPr marL="0" indent="0">
              <a:lnSpc>
                <a:spcPct val="110000"/>
              </a:lnSpc>
              <a:buNone/>
            </a:pPr>
            <a:r>
              <a:rPr lang="en-US" sz="1000" i="1" dirty="0">
                <a:solidFill>
                  <a:srgbClr val="C0392B"/>
                </a:solidFill>
                <a:latin typeface="Calibri" pitchFamily="34" charset="0"/>
                <a:ea typeface="Calibri" pitchFamily="34" charset="-122"/>
                <a:cs typeface="Calibri" pitchFamily="34" charset="-120"/>
              </a:rPr>
              <a:t>Volume up, revenue down</a:t>
            </a:r>
            <a:endParaRPr lang="en-US" sz="1150" dirty="0"/>
          </a:p>
        </p:txBody>
      </p:sp>
      <p:sp>
        <p:nvSpPr>
          <p:cNvPr id="14" name="Shape 11"/>
          <p:cNvSpPr/>
          <p:nvPr/>
        </p:nvSpPr>
        <p:spPr>
          <a:xfrm>
            <a:off x="7726680" y="4425696"/>
            <a:ext cx="118872" cy="118872"/>
          </a:xfrm>
          <a:prstGeom prst="ellipse">
            <a:avLst/>
          </a:prstGeom>
          <a:solidFill>
            <a:srgbClr val="C0392B"/>
          </a:solidFill>
          <a:ln/>
        </p:spPr>
        <p:txBody>
          <a:bodyPr/>
          <a:lstStyle/>
          <a:p>
            <a:endParaRPr lang="en-IN"/>
          </a:p>
        </p:txBody>
      </p:sp>
      <p:sp>
        <p:nvSpPr>
          <p:cNvPr id="15" name="Text 12"/>
          <p:cNvSpPr/>
          <p:nvPr/>
        </p:nvSpPr>
        <p:spPr>
          <a:xfrm>
            <a:off x="7955280" y="4315968"/>
            <a:ext cx="3703320" cy="566928"/>
          </a:xfrm>
          <a:prstGeom prst="rect">
            <a:avLst/>
          </a:prstGeom>
          <a:noFill/>
          <a:ln/>
        </p:spPr>
        <p:txBody>
          <a:bodyPr wrap="square" lIns="0" tIns="0" rIns="0" bIns="0" rtlCol="0" anchor="ctr"/>
          <a:lstStyle/>
          <a:p>
            <a:pPr marL="0" indent="0">
              <a:lnSpc>
                <a:spcPct val="110000"/>
              </a:lnSpc>
              <a:buNone/>
            </a:pPr>
            <a:r>
              <a:rPr lang="en-US" sz="1150" b="1" dirty="0">
                <a:solidFill>
                  <a:srgbClr val="1B1F3B"/>
                </a:solidFill>
                <a:latin typeface="Calibri" pitchFamily="34" charset="0"/>
                <a:ea typeface="Calibri" pitchFamily="34" charset="-122"/>
                <a:cs typeface="Calibri" pitchFamily="34" charset="-120"/>
              </a:rPr>
              <a:t>25% OFF   </a:t>
            </a:r>
            <a:r>
              <a:rPr lang="en-US" sz="950" dirty="0">
                <a:solidFill>
                  <a:srgbClr val="5B6178"/>
                </a:solidFill>
                <a:latin typeface="Calibri" pitchFamily="34" charset="0"/>
                <a:ea typeface="Calibri" pitchFamily="34" charset="-122"/>
                <a:cs typeface="Calibri" pitchFamily="34" charset="-120"/>
              </a:rPr>
              <a:t>ISU -12.90%  ·  IR -34.77%</a:t>
            </a:r>
            <a:endParaRPr lang="en-US" sz="1150" dirty="0"/>
          </a:p>
          <a:p>
            <a:pPr marL="0" indent="0">
              <a:lnSpc>
                <a:spcPct val="110000"/>
              </a:lnSpc>
              <a:buNone/>
            </a:pPr>
            <a:r>
              <a:rPr lang="en-US" sz="1000" i="1" dirty="0">
                <a:solidFill>
                  <a:srgbClr val="C0392B"/>
                </a:solidFill>
                <a:latin typeface="Calibri" pitchFamily="34" charset="0"/>
                <a:ea typeface="Calibri" pitchFamily="34" charset="-122"/>
                <a:cs typeface="Calibri" pitchFamily="34" charset="-120"/>
              </a:rPr>
              <a:t>Underperforms on both</a:t>
            </a:r>
            <a:endParaRPr lang="en-US" sz="1150" dirty="0"/>
          </a:p>
        </p:txBody>
      </p:sp>
      <p:sp>
        <p:nvSpPr>
          <p:cNvPr id="16" name="Shape 13"/>
          <p:cNvSpPr/>
          <p:nvPr/>
        </p:nvSpPr>
        <p:spPr>
          <a:xfrm>
            <a:off x="548640" y="5806440"/>
            <a:ext cx="11091672" cy="603504"/>
          </a:xfrm>
          <a:prstGeom prst="roundRect">
            <a:avLst>
              <a:gd name="adj" fmla="val 9091"/>
            </a:avLst>
          </a:prstGeom>
          <a:solidFill>
            <a:srgbClr val="EDF2FC"/>
          </a:solidFill>
          <a:ln w="9525">
            <a:solidFill>
              <a:srgbClr val="CADCFC"/>
            </a:solidFill>
            <a:prstDash val="solid"/>
          </a:ln>
        </p:spPr>
        <p:txBody>
          <a:bodyPr/>
          <a:lstStyle/>
          <a:p>
            <a:endParaRPr lang="en-IN"/>
          </a:p>
        </p:txBody>
      </p:sp>
      <p:sp>
        <p:nvSpPr>
          <p:cNvPr id="17" name="Text 14"/>
          <p:cNvSpPr/>
          <p:nvPr/>
        </p:nvSpPr>
        <p:spPr>
          <a:xfrm>
            <a:off x="777240" y="5806440"/>
            <a:ext cx="10634472" cy="603504"/>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BUSINESS TAKEAWAY   </a:t>
            </a:r>
            <a:r>
              <a:rPr lang="en-US" sz="1100" dirty="0">
                <a:solidFill>
                  <a:srgbClr val="1B1F3B"/>
                </a:solidFill>
                <a:latin typeface="Calibri" pitchFamily="34" charset="0"/>
                <a:ea typeface="Calibri" pitchFamily="34" charset="-122"/>
                <a:cs typeface="Calibri" pitchFamily="34" charset="-120"/>
              </a:rPr>
              <a:t>There is a genuine trade-off between volume and revenue. Choose BOGOF when the objective is footfall and volume; choose 500 Cashback when the objective is revenue growth. Avoid 25% OFF in Hyderabad — it underperforms on both dimensions.</a:t>
            </a:r>
            <a:endParaRPr lang="en-US" sz="1100" dirty="0"/>
          </a:p>
        </p:txBody>
      </p:sp>
      <p:sp>
        <p:nvSpPr>
          <p:cNvPr id="18" name="Text 15"/>
          <p:cNvSpPr/>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5B6178"/>
                </a:solidFill>
                <a:latin typeface="Calibri" pitchFamily="34" charset="0"/>
                <a:ea typeface="Calibri" pitchFamily="34" charset="-122"/>
                <a:cs typeface="Calibri" pitchFamily="34" charset="-120"/>
              </a:rPr>
              <a:t>Nova Mart Campaign Performance Analysis</a:t>
            </a:r>
            <a:endParaRPr lang="en-US" sz="900" dirty="0"/>
          </a:p>
        </p:txBody>
      </p:sp>
      <p:sp>
        <p:nvSpPr>
          <p:cNvPr id="19" name="Text 16"/>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5B617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150" dirty="0">
                <a:solidFill>
                  <a:srgbClr val="C99A3A"/>
                </a:solidFill>
                <a:latin typeface="Calibri" pitchFamily="34" charset="0"/>
                <a:ea typeface="Calibri" pitchFamily="34" charset="-122"/>
                <a:cs typeface="Calibri" pitchFamily="34" charset="-120"/>
              </a:rPr>
              <a:t>Q7 · REVENUE IMPACT — BENGALURU</a:t>
            </a:r>
            <a:endParaRPr lang="en-US" sz="1200" dirty="0"/>
          </a:p>
        </p:txBody>
      </p:sp>
      <p:sp>
        <p:nvSpPr>
          <p:cNvPr id="3" name="Text 1"/>
          <p:cNvSpPr/>
          <p:nvPr/>
        </p:nvSpPr>
        <p:spPr>
          <a:xfrm>
            <a:off x="548640" y="566928"/>
            <a:ext cx="11064240" cy="59436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Revenue Grew in Four of Five Categories</a:t>
            </a:r>
            <a:endParaRPr lang="en-US" sz="2800" dirty="0"/>
          </a:p>
        </p:txBody>
      </p:sp>
      <p:graphicFrame>
        <p:nvGraphicFramePr>
          <p:cNvPr id="4" name="Chart 0"/>
          <p:cNvGraphicFramePr/>
          <p:nvPr/>
        </p:nvGraphicFramePr>
        <p:xfrm>
          <a:off x="548640" y="1371600"/>
          <a:ext cx="11091672"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48640" y="5806440"/>
            <a:ext cx="11091672" cy="603504"/>
          </a:xfrm>
          <a:prstGeom prst="roundRect">
            <a:avLst>
              <a:gd name="adj" fmla="val 9091"/>
            </a:avLst>
          </a:prstGeom>
          <a:solidFill>
            <a:srgbClr val="EDF2FC"/>
          </a:solidFill>
          <a:ln w="9525">
            <a:solidFill>
              <a:srgbClr val="CADCFC"/>
            </a:solidFill>
            <a:prstDash val="solid"/>
          </a:ln>
        </p:spPr>
        <p:txBody>
          <a:bodyPr/>
          <a:lstStyle/>
          <a:p>
            <a:endParaRPr lang="en-IN"/>
          </a:p>
        </p:txBody>
      </p:sp>
      <p:sp>
        <p:nvSpPr>
          <p:cNvPr id="6" name="Text 3"/>
          <p:cNvSpPr/>
          <p:nvPr/>
        </p:nvSpPr>
        <p:spPr>
          <a:xfrm>
            <a:off x="777240" y="5806440"/>
            <a:ext cx="10634472" cy="603504"/>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BUSINESS TAKEAWAY   </a:t>
            </a:r>
            <a:r>
              <a:rPr lang="en-US" sz="1100" dirty="0">
                <a:solidFill>
                  <a:srgbClr val="1B1F3B"/>
                </a:solidFill>
                <a:latin typeface="Calibri" pitchFamily="34" charset="0"/>
                <a:ea typeface="Calibri" pitchFamily="34" charset="-122"/>
                <a:cs typeface="Calibri" pitchFamily="34" charset="-120"/>
              </a:rPr>
              <a:t>Combo1 delivered the largest gain, rising from ~₹15.78M to ~₹38.13M. Home Appliances and Home Care also grew, and Grocery &amp; Staples grew more modestly. Personal Care was the only category to decline (~₹0.58M → ~₹0.39M) and warrants investigation.</a:t>
            </a:r>
            <a:endParaRPr lang="en-US" sz="1100" dirty="0"/>
          </a:p>
        </p:txBody>
      </p:sp>
      <p:sp>
        <p:nvSpPr>
          <p:cNvPr id="7" name="Text 4"/>
          <p:cNvSpPr/>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5B6178"/>
                </a:solidFill>
                <a:latin typeface="Calibri" pitchFamily="34" charset="0"/>
                <a:ea typeface="Calibri" pitchFamily="34" charset="-122"/>
                <a:cs typeface="Calibri" pitchFamily="34" charset="-120"/>
              </a:rPr>
              <a:t>Nova Mart Campaign Performance Analysis</a:t>
            </a:r>
            <a:endParaRPr lang="en-US" sz="900" dirty="0"/>
          </a:p>
        </p:txBody>
      </p:sp>
      <p:sp>
        <p:nvSpPr>
          <p:cNvPr id="8" name="Text 5"/>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5B617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150" dirty="0">
                <a:solidFill>
                  <a:srgbClr val="C99A3A"/>
                </a:solidFill>
                <a:latin typeface="Calibri" pitchFamily="34" charset="0"/>
                <a:ea typeface="Calibri" pitchFamily="34" charset="-122"/>
                <a:cs typeface="Calibri" pitchFamily="34" charset="-120"/>
              </a:rPr>
              <a:t>Q7 · BUSINESS IMPACT — BENGALURU</a:t>
            </a:r>
            <a:endParaRPr lang="en-US" sz="1200" dirty="0"/>
          </a:p>
        </p:txBody>
      </p:sp>
      <p:sp>
        <p:nvSpPr>
          <p:cNvPr id="3" name="Text 1"/>
          <p:cNvSpPr/>
          <p:nvPr/>
        </p:nvSpPr>
        <p:spPr>
          <a:xfrm>
            <a:off x="548640" y="566928"/>
            <a:ext cx="11064240" cy="59436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Promotions Added Approximately ₹27.11M in Bengaluru</a:t>
            </a:r>
            <a:endParaRPr lang="en-US" sz="2800" dirty="0"/>
          </a:p>
        </p:txBody>
      </p:sp>
      <p:sp>
        <p:nvSpPr>
          <p:cNvPr id="4" name="Shape 2"/>
          <p:cNvSpPr/>
          <p:nvPr/>
        </p:nvSpPr>
        <p:spPr>
          <a:xfrm>
            <a:off x="548640" y="1554480"/>
            <a:ext cx="2606040" cy="1828800"/>
          </a:xfrm>
          <a:prstGeom prst="roundRect">
            <a:avLst>
              <a:gd name="adj" fmla="val 4000"/>
            </a:avLst>
          </a:prstGeom>
          <a:solidFill>
            <a:srgbClr val="FFFFFF"/>
          </a:solidFill>
          <a:ln w="12700">
            <a:solidFill>
              <a:srgbClr val="E3E7F1"/>
            </a:solidFill>
            <a:prstDash val="solid"/>
          </a:ln>
          <a:effectLst>
            <a:outerShdw blurRad="76200" dist="25400" dir="5400000" algn="bl" rotWithShape="0">
              <a:srgbClr val="9AA5C7">
                <a:alpha val="35000"/>
              </a:srgbClr>
            </a:outerShdw>
          </a:effectLst>
        </p:spPr>
        <p:txBody>
          <a:bodyPr/>
          <a:lstStyle/>
          <a:p>
            <a:endParaRPr lang="en-IN"/>
          </a:p>
        </p:txBody>
      </p:sp>
      <p:sp>
        <p:nvSpPr>
          <p:cNvPr id="5" name="Text 3"/>
          <p:cNvSpPr/>
          <p:nvPr/>
        </p:nvSpPr>
        <p:spPr>
          <a:xfrm>
            <a:off x="685800" y="1682496"/>
            <a:ext cx="2331720" cy="1261872"/>
          </a:xfrm>
          <a:prstGeom prst="rect">
            <a:avLst/>
          </a:prstGeom>
          <a:noFill/>
          <a:ln/>
        </p:spPr>
        <p:txBody>
          <a:bodyPr wrap="square" lIns="0" tIns="0" rIns="0" bIns="0" rtlCol="0" anchor="b"/>
          <a:lstStyle/>
          <a:p>
            <a:pPr marL="0" indent="0" algn="l">
              <a:buNone/>
            </a:pPr>
            <a:r>
              <a:rPr lang="en-US" sz="2700" b="1" dirty="0">
                <a:solidFill>
                  <a:srgbClr val="1E2761"/>
                </a:solidFill>
                <a:latin typeface="Cambria" pitchFamily="34" charset="0"/>
                <a:ea typeface="Cambria" pitchFamily="34" charset="-122"/>
                <a:cs typeface="Cambria" pitchFamily="34" charset="-120"/>
              </a:rPr>
              <a:t>₹32.31M</a:t>
            </a:r>
            <a:endParaRPr lang="en-US" sz="2700" dirty="0"/>
          </a:p>
        </p:txBody>
      </p:sp>
      <p:sp>
        <p:nvSpPr>
          <p:cNvPr id="6" name="Text 4"/>
          <p:cNvSpPr/>
          <p:nvPr/>
        </p:nvSpPr>
        <p:spPr>
          <a:xfrm>
            <a:off x="685800" y="2962656"/>
            <a:ext cx="2331720" cy="365760"/>
          </a:xfrm>
          <a:prstGeom prst="rect">
            <a:avLst/>
          </a:prstGeom>
          <a:noFill/>
          <a:ln/>
        </p:spPr>
        <p:txBody>
          <a:bodyPr wrap="square" lIns="0" tIns="0" rIns="0" bIns="0" rtlCol="0" anchor="t"/>
          <a:lstStyle/>
          <a:p>
            <a:pPr marL="0" indent="0" algn="l">
              <a:buNone/>
            </a:pPr>
            <a:r>
              <a:rPr lang="en-US" sz="1050" dirty="0">
                <a:solidFill>
                  <a:srgbClr val="5B6178"/>
                </a:solidFill>
                <a:latin typeface="Calibri" pitchFamily="34" charset="0"/>
                <a:ea typeface="Calibri" pitchFamily="34" charset="-122"/>
                <a:cs typeface="Calibri" pitchFamily="34" charset="-120"/>
              </a:rPr>
              <a:t>Total Revenue — Before Promotion</a:t>
            </a:r>
            <a:endParaRPr lang="en-US" sz="1050" dirty="0"/>
          </a:p>
        </p:txBody>
      </p:sp>
      <p:sp>
        <p:nvSpPr>
          <p:cNvPr id="7" name="Shape 5"/>
          <p:cNvSpPr/>
          <p:nvPr/>
        </p:nvSpPr>
        <p:spPr>
          <a:xfrm>
            <a:off x="3374136" y="1554480"/>
            <a:ext cx="2606040" cy="1828800"/>
          </a:xfrm>
          <a:prstGeom prst="roundRect">
            <a:avLst>
              <a:gd name="adj" fmla="val 4000"/>
            </a:avLst>
          </a:prstGeom>
          <a:solidFill>
            <a:srgbClr val="FFFFFF"/>
          </a:solidFill>
          <a:ln w="12700">
            <a:solidFill>
              <a:srgbClr val="E3E7F1"/>
            </a:solidFill>
            <a:prstDash val="solid"/>
          </a:ln>
          <a:effectLst>
            <a:outerShdw blurRad="76200" dist="25400" dir="5400000" algn="bl" rotWithShape="0">
              <a:srgbClr val="9AA5C7">
                <a:alpha val="35000"/>
              </a:srgbClr>
            </a:outerShdw>
          </a:effectLst>
        </p:spPr>
        <p:txBody>
          <a:bodyPr/>
          <a:lstStyle/>
          <a:p>
            <a:endParaRPr lang="en-IN"/>
          </a:p>
        </p:txBody>
      </p:sp>
      <p:sp>
        <p:nvSpPr>
          <p:cNvPr id="8" name="Text 6"/>
          <p:cNvSpPr/>
          <p:nvPr/>
        </p:nvSpPr>
        <p:spPr>
          <a:xfrm>
            <a:off x="3511296" y="1682496"/>
            <a:ext cx="2331720" cy="1261872"/>
          </a:xfrm>
          <a:prstGeom prst="rect">
            <a:avLst/>
          </a:prstGeom>
          <a:noFill/>
          <a:ln/>
        </p:spPr>
        <p:txBody>
          <a:bodyPr wrap="square" lIns="0" tIns="0" rIns="0" bIns="0" rtlCol="0" anchor="b"/>
          <a:lstStyle/>
          <a:p>
            <a:pPr marL="0" indent="0" algn="l">
              <a:buNone/>
            </a:pPr>
            <a:r>
              <a:rPr lang="en-US" sz="2700" b="1" dirty="0">
                <a:solidFill>
                  <a:srgbClr val="1E2761"/>
                </a:solidFill>
                <a:latin typeface="Cambria" pitchFamily="34" charset="0"/>
                <a:ea typeface="Cambria" pitchFamily="34" charset="-122"/>
                <a:cs typeface="Cambria" pitchFamily="34" charset="-120"/>
              </a:rPr>
              <a:t>₹59.42M</a:t>
            </a:r>
            <a:endParaRPr lang="en-US" sz="2700" dirty="0"/>
          </a:p>
        </p:txBody>
      </p:sp>
      <p:sp>
        <p:nvSpPr>
          <p:cNvPr id="9" name="Text 7"/>
          <p:cNvSpPr/>
          <p:nvPr/>
        </p:nvSpPr>
        <p:spPr>
          <a:xfrm>
            <a:off x="3511296" y="2962656"/>
            <a:ext cx="2331720" cy="365760"/>
          </a:xfrm>
          <a:prstGeom prst="rect">
            <a:avLst/>
          </a:prstGeom>
          <a:noFill/>
          <a:ln/>
        </p:spPr>
        <p:txBody>
          <a:bodyPr wrap="square" lIns="0" tIns="0" rIns="0" bIns="0" rtlCol="0" anchor="t"/>
          <a:lstStyle/>
          <a:p>
            <a:pPr marL="0" indent="0" algn="l">
              <a:buNone/>
            </a:pPr>
            <a:r>
              <a:rPr lang="en-US" sz="1050" dirty="0">
                <a:solidFill>
                  <a:srgbClr val="5B6178"/>
                </a:solidFill>
                <a:latin typeface="Calibri" pitchFamily="34" charset="0"/>
                <a:ea typeface="Calibri" pitchFamily="34" charset="-122"/>
                <a:cs typeface="Calibri" pitchFamily="34" charset="-120"/>
              </a:rPr>
              <a:t>Total Revenue — After Promotion</a:t>
            </a:r>
            <a:endParaRPr lang="en-US" sz="1050" dirty="0"/>
          </a:p>
        </p:txBody>
      </p:sp>
      <p:sp>
        <p:nvSpPr>
          <p:cNvPr id="10" name="Shape 8"/>
          <p:cNvSpPr/>
          <p:nvPr/>
        </p:nvSpPr>
        <p:spPr>
          <a:xfrm>
            <a:off x="6199632" y="1554480"/>
            <a:ext cx="2606040" cy="1828800"/>
          </a:xfrm>
          <a:prstGeom prst="roundRect">
            <a:avLst>
              <a:gd name="adj" fmla="val 4000"/>
            </a:avLst>
          </a:prstGeom>
          <a:solidFill>
            <a:srgbClr val="FFFFFF"/>
          </a:solidFill>
          <a:ln w="12700">
            <a:solidFill>
              <a:srgbClr val="E3E7F1"/>
            </a:solidFill>
            <a:prstDash val="solid"/>
          </a:ln>
          <a:effectLst>
            <a:outerShdw blurRad="76200" dist="25400" dir="5400000" algn="bl" rotWithShape="0">
              <a:srgbClr val="9AA5C7">
                <a:alpha val="35000"/>
              </a:srgbClr>
            </a:outerShdw>
          </a:effectLst>
        </p:spPr>
        <p:txBody>
          <a:bodyPr/>
          <a:lstStyle/>
          <a:p>
            <a:endParaRPr lang="en-IN"/>
          </a:p>
        </p:txBody>
      </p:sp>
      <p:sp>
        <p:nvSpPr>
          <p:cNvPr id="11" name="Text 9"/>
          <p:cNvSpPr/>
          <p:nvPr/>
        </p:nvSpPr>
        <p:spPr>
          <a:xfrm>
            <a:off x="6336792" y="1682496"/>
            <a:ext cx="2331720" cy="1261872"/>
          </a:xfrm>
          <a:prstGeom prst="rect">
            <a:avLst/>
          </a:prstGeom>
          <a:noFill/>
          <a:ln/>
        </p:spPr>
        <p:txBody>
          <a:bodyPr wrap="square" lIns="0" tIns="0" rIns="0" bIns="0" rtlCol="0" anchor="b"/>
          <a:lstStyle/>
          <a:p>
            <a:pPr marL="0" indent="0" algn="l">
              <a:buNone/>
            </a:pPr>
            <a:r>
              <a:rPr lang="en-US" sz="2700" b="1" dirty="0">
                <a:solidFill>
                  <a:srgbClr val="1B7F5C"/>
                </a:solidFill>
                <a:latin typeface="Cambria" pitchFamily="34" charset="0"/>
                <a:ea typeface="Cambria" pitchFamily="34" charset="-122"/>
                <a:cs typeface="Cambria" pitchFamily="34" charset="-120"/>
              </a:rPr>
              <a:t>+₹27.11M</a:t>
            </a:r>
            <a:endParaRPr lang="en-US" sz="2700" dirty="0"/>
          </a:p>
        </p:txBody>
      </p:sp>
      <p:sp>
        <p:nvSpPr>
          <p:cNvPr id="12" name="Text 10"/>
          <p:cNvSpPr/>
          <p:nvPr/>
        </p:nvSpPr>
        <p:spPr>
          <a:xfrm>
            <a:off x="6336792" y="2962656"/>
            <a:ext cx="2331720" cy="365760"/>
          </a:xfrm>
          <a:prstGeom prst="rect">
            <a:avLst/>
          </a:prstGeom>
          <a:noFill/>
          <a:ln/>
        </p:spPr>
        <p:txBody>
          <a:bodyPr wrap="square" lIns="0" tIns="0" rIns="0" bIns="0" rtlCol="0" anchor="t"/>
          <a:lstStyle/>
          <a:p>
            <a:pPr marL="0" indent="0" algn="l">
              <a:buNone/>
            </a:pPr>
            <a:r>
              <a:rPr lang="en-US" sz="1050" dirty="0">
                <a:solidFill>
                  <a:srgbClr val="5B6178"/>
                </a:solidFill>
                <a:latin typeface="Calibri" pitchFamily="34" charset="0"/>
                <a:ea typeface="Calibri" pitchFamily="34" charset="-122"/>
                <a:cs typeface="Calibri" pitchFamily="34" charset="-120"/>
              </a:rPr>
              <a:t>Approximate Revenue Increase</a:t>
            </a:r>
            <a:endParaRPr lang="en-US" sz="1050" dirty="0"/>
          </a:p>
        </p:txBody>
      </p:sp>
      <p:sp>
        <p:nvSpPr>
          <p:cNvPr id="13" name="Shape 11"/>
          <p:cNvSpPr/>
          <p:nvPr/>
        </p:nvSpPr>
        <p:spPr>
          <a:xfrm>
            <a:off x="9025128" y="1554480"/>
            <a:ext cx="2606040" cy="1828800"/>
          </a:xfrm>
          <a:prstGeom prst="roundRect">
            <a:avLst>
              <a:gd name="adj" fmla="val 4000"/>
            </a:avLst>
          </a:prstGeom>
          <a:solidFill>
            <a:srgbClr val="FFFFFF"/>
          </a:solidFill>
          <a:ln w="12700">
            <a:solidFill>
              <a:srgbClr val="E3E7F1"/>
            </a:solidFill>
            <a:prstDash val="solid"/>
          </a:ln>
          <a:effectLst>
            <a:outerShdw blurRad="76200" dist="25400" dir="5400000" algn="bl" rotWithShape="0">
              <a:srgbClr val="9AA5C7">
                <a:alpha val="35000"/>
              </a:srgbClr>
            </a:outerShdw>
          </a:effectLst>
        </p:spPr>
        <p:txBody>
          <a:bodyPr/>
          <a:lstStyle/>
          <a:p>
            <a:endParaRPr lang="en-IN"/>
          </a:p>
        </p:txBody>
      </p:sp>
      <p:sp>
        <p:nvSpPr>
          <p:cNvPr id="14" name="Text 12"/>
          <p:cNvSpPr/>
          <p:nvPr/>
        </p:nvSpPr>
        <p:spPr>
          <a:xfrm>
            <a:off x="9162288" y="1682496"/>
            <a:ext cx="2331720" cy="1261872"/>
          </a:xfrm>
          <a:prstGeom prst="rect">
            <a:avLst/>
          </a:prstGeom>
          <a:noFill/>
          <a:ln/>
        </p:spPr>
        <p:txBody>
          <a:bodyPr wrap="square" lIns="0" tIns="0" rIns="0" bIns="0" rtlCol="0" anchor="b"/>
          <a:lstStyle/>
          <a:p>
            <a:pPr marL="0" indent="0" algn="l">
              <a:buNone/>
            </a:pPr>
            <a:r>
              <a:rPr lang="en-US" sz="2700" b="1" dirty="0">
                <a:solidFill>
                  <a:srgbClr val="1B7F5C"/>
                </a:solidFill>
                <a:latin typeface="Cambria" pitchFamily="34" charset="0"/>
                <a:ea typeface="Cambria" pitchFamily="34" charset="-122"/>
                <a:cs typeface="Cambria" pitchFamily="34" charset="-120"/>
              </a:rPr>
              <a:t>~83.90%</a:t>
            </a:r>
            <a:endParaRPr lang="en-US" sz="2700" dirty="0"/>
          </a:p>
        </p:txBody>
      </p:sp>
      <p:sp>
        <p:nvSpPr>
          <p:cNvPr id="15" name="Text 13"/>
          <p:cNvSpPr/>
          <p:nvPr/>
        </p:nvSpPr>
        <p:spPr>
          <a:xfrm>
            <a:off x="9162288" y="2962656"/>
            <a:ext cx="2331720" cy="365760"/>
          </a:xfrm>
          <a:prstGeom prst="rect">
            <a:avLst/>
          </a:prstGeom>
          <a:noFill/>
          <a:ln/>
        </p:spPr>
        <p:txBody>
          <a:bodyPr wrap="square" lIns="0" tIns="0" rIns="0" bIns="0" rtlCol="0" anchor="t"/>
          <a:lstStyle/>
          <a:p>
            <a:pPr marL="0" indent="0" algn="l">
              <a:buNone/>
            </a:pPr>
            <a:r>
              <a:rPr lang="en-US" sz="1050" dirty="0">
                <a:solidFill>
                  <a:srgbClr val="5B6178"/>
                </a:solidFill>
                <a:latin typeface="Calibri" pitchFamily="34" charset="0"/>
                <a:ea typeface="Calibri" pitchFamily="34" charset="-122"/>
                <a:cs typeface="Calibri" pitchFamily="34" charset="-120"/>
              </a:rPr>
              <a:t>Approximate Overall Revenue Growth</a:t>
            </a:r>
            <a:endParaRPr lang="en-US" sz="1050" dirty="0"/>
          </a:p>
        </p:txBody>
      </p:sp>
      <p:sp>
        <p:nvSpPr>
          <p:cNvPr id="16" name="Shape 14"/>
          <p:cNvSpPr/>
          <p:nvPr/>
        </p:nvSpPr>
        <p:spPr>
          <a:xfrm>
            <a:off x="548640" y="3703320"/>
            <a:ext cx="11091672" cy="1600200"/>
          </a:xfrm>
          <a:prstGeom prst="roundRect">
            <a:avLst>
              <a:gd name="adj" fmla="val 4571"/>
            </a:avLst>
          </a:prstGeom>
          <a:solidFill>
            <a:srgbClr val="F5F7FB"/>
          </a:solidFill>
          <a:ln w="12700">
            <a:solidFill>
              <a:srgbClr val="E3E7F1"/>
            </a:solidFill>
            <a:prstDash val="solid"/>
          </a:ln>
        </p:spPr>
        <p:txBody>
          <a:bodyPr/>
          <a:lstStyle/>
          <a:p>
            <a:endParaRPr lang="en-IN"/>
          </a:p>
        </p:txBody>
      </p:sp>
      <p:sp>
        <p:nvSpPr>
          <p:cNvPr id="17" name="Text 15"/>
          <p:cNvSpPr/>
          <p:nvPr/>
        </p:nvSpPr>
        <p:spPr>
          <a:xfrm>
            <a:off x="868680" y="3931920"/>
            <a:ext cx="10424160" cy="1188720"/>
          </a:xfrm>
          <a:prstGeom prst="rect">
            <a:avLst/>
          </a:prstGeom>
          <a:noFill/>
          <a:ln/>
        </p:spPr>
        <p:txBody>
          <a:bodyPr wrap="square" lIns="0" tIns="0" rIns="0" bIns="0" rtlCol="0" anchor="t"/>
          <a:lstStyle/>
          <a:p>
            <a:pPr marL="0" indent="0">
              <a:lnSpc>
                <a:spcPct val="130000"/>
              </a:lnSpc>
              <a:buNone/>
            </a:pPr>
            <a:r>
              <a:rPr lang="en-US" sz="1550" i="1" dirty="0">
                <a:solidFill>
                  <a:srgbClr val="1B1F3B"/>
                </a:solidFill>
                <a:latin typeface="Cambria" pitchFamily="34" charset="0"/>
                <a:ea typeface="Cambria" pitchFamily="34" charset="-122"/>
                <a:cs typeface="Cambria" pitchFamily="34" charset="-120"/>
              </a:rPr>
              <a:t>Promotions generated substantial revenue growth in Bengaluru, driven primarily by Combo1, while Personal Care underperformed. All totals are labeled approximate, as they are aggregated from category-level revenue figures.</a:t>
            </a:r>
            <a:endParaRPr lang="en-US" sz="1550" dirty="0"/>
          </a:p>
        </p:txBody>
      </p:sp>
      <p:sp>
        <p:nvSpPr>
          <p:cNvPr id="18" name="Shape 16"/>
          <p:cNvSpPr/>
          <p:nvPr/>
        </p:nvSpPr>
        <p:spPr>
          <a:xfrm>
            <a:off x="548640" y="5623560"/>
            <a:ext cx="11091672" cy="603504"/>
          </a:xfrm>
          <a:prstGeom prst="roundRect">
            <a:avLst>
              <a:gd name="adj" fmla="val 9091"/>
            </a:avLst>
          </a:prstGeom>
          <a:solidFill>
            <a:srgbClr val="EDF2FC"/>
          </a:solidFill>
          <a:ln w="9525">
            <a:solidFill>
              <a:srgbClr val="CADCFC"/>
            </a:solidFill>
            <a:prstDash val="solid"/>
          </a:ln>
        </p:spPr>
        <p:txBody>
          <a:bodyPr/>
          <a:lstStyle/>
          <a:p>
            <a:endParaRPr lang="en-IN"/>
          </a:p>
        </p:txBody>
      </p:sp>
      <p:sp>
        <p:nvSpPr>
          <p:cNvPr id="19" name="Text 17"/>
          <p:cNvSpPr/>
          <p:nvPr/>
        </p:nvSpPr>
        <p:spPr>
          <a:xfrm>
            <a:off x="777240" y="5623560"/>
            <a:ext cx="10634472" cy="603504"/>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BUSINESS TAKEAWAY   </a:t>
            </a:r>
            <a:r>
              <a:rPr lang="en-US" sz="1100" dirty="0">
                <a:solidFill>
                  <a:srgbClr val="1B1F3B"/>
                </a:solidFill>
                <a:latin typeface="Calibri" pitchFamily="34" charset="0"/>
                <a:ea typeface="Calibri" pitchFamily="34" charset="-122"/>
                <a:cs typeface="Calibri" pitchFamily="34" charset="-120"/>
              </a:rPr>
              <a:t>Treat Bengaluru's Combo1 promotion mechanics as a template to test in other metro stores, and prioritize a root-cause review of Personal Care pricing, assortment, or promotion type before the next campaign cycle.</a:t>
            </a:r>
            <a:endParaRPr lang="en-US" sz="1100" dirty="0"/>
          </a:p>
        </p:txBody>
      </p:sp>
      <p:sp>
        <p:nvSpPr>
          <p:cNvPr id="20" name="Text 18"/>
          <p:cNvSpPr/>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5B6178"/>
                </a:solidFill>
                <a:latin typeface="Calibri" pitchFamily="34" charset="0"/>
                <a:ea typeface="Calibri" pitchFamily="34" charset="-122"/>
                <a:cs typeface="Calibri" pitchFamily="34" charset="-120"/>
              </a:rPr>
              <a:t>Nova Mart Campaign Performance Analysis</a:t>
            </a:r>
            <a:endParaRPr lang="en-US" sz="900" dirty="0"/>
          </a:p>
        </p:txBody>
      </p:sp>
      <p:sp>
        <p:nvSpPr>
          <p:cNvPr id="21" name="Text 19"/>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5B617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150" dirty="0">
                <a:solidFill>
                  <a:srgbClr val="C99A3A"/>
                </a:solidFill>
                <a:latin typeface="Calibri" pitchFamily="34" charset="0"/>
                <a:ea typeface="Calibri" pitchFamily="34" charset="-122"/>
                <a:cs typeface="Calibri" pitchFamily="34" charset="-120"/>
              </a:rPr>
              <a:t>SYNTHESIS</a:t>
            </a:r>
            <a:endParaRPr lang="en-US" sz="1200" dirty="0"/>
          </a:p>
        </p:txBody>
      </p:sp>
      <p:sp>
        <p:nvSpPr>
          <p:cNvPr id="3" name="Text 1"/>
          <p:cNvSpPr/>
          <p:nvPr/>
        </p:nvSpPr>
        <p:spPr>
          <a:xfrm>
            <a:off x="548640" y="566928"/>
            <a:ext cx="11064240" cy="59436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Four Cross-Cutting Insights</a:t>
            </a:r>
            <a:endParaRPr lang="en-US" sz="2800" dirty="0"/>
          </a:p>
        </p:txBody>
      </p:sp>
      <p:sp>
        <p:nvSpPr>
          <p:cNvPr id="4" name="Shape 2"/>
          <p:cNvSpPr/>
          <p:nvPr/>
        </p:nvSpPr>
        <p:spPr>
          <a:xfrm>
            <a:off x="548640" y="1463040"/>
            <a:ext cx="5394960" cy="2148840"/>
          </a:xfrm>
          <a:prstGeom prst="roundRect">
            <a:avLst>
              <a:gd name="adj" fmla="val 3404"/>
            </a:avLst>
          </a:prstGeom>
          <a:solidFill>
            <a:srgbClr val="FFFFFF"/>
          </a:solidFill>
          <a:ln w="12700">
            <a:solidFill>
              <a:srgbClr val="E3E7F1"/>
            </a:solidFill>
            <a:prstDash val="solid"/>
          </a:ln>
          <a:effectLst>
            <a:outerShdw blurRad="76200" dist="25400" dir="5400000" algn="bl" rotWithShape="0">
              <a:srgbClr val="9AA5C7">
                <a:alpha val="30000"/>
              </a:srgbClr>
            </a:outerShdw>
          </a:effectLst>
        </p:spPr>
        <p:txBody>
          <a:bodyPr/>
          <a:lstStyle/>
          <a:p>
            <a:endParaRPr lang="en-IN"/>
          </a:p>
        </p:txBody>
      </p:sp>
      <p:sp>
        <p:nvSpPr>
          <p:cNvPr id="5" name="Shape 3"/>
          <p:cNvSpPr/>
          <p:nvPr/>
        </p:nvSpPr>
        <p:spPr>
          <a:xfrm>
            <a:off x="548640" y="1463040"/>
            <a:ext cx="1417320" cy="365760"/>
          </a:xfrm>
          <a:prstGeom prst="roundRect">
            <a:avLst>
              <a:gd name="adj" fmla="val 20000"/>
            </a:avLst>
          </a:prstGeom>
          <a:solidFill>
            <a:srgbClr val="1E2761"/>
          </a:solidFill>
          <a:ln/>
        </p:spPr>
        <p:txBody>
          <a:bodyPr/>
          <a:lstStyle/>
          <a:p>
            <a:endParaRPr lang="en-IN"/>
          </a:p>
        </p:txBody>
      </p:sp>
      <p:sp>
        <p:nvSpPr>
          <p:cNvPr id="6" name="Text 4"/>
          <p:cNvSpPr/>
          <p:nvPr/>
        </p:nvSpPr>
        <p:spPr>
          <a:xfrm>
            <a:off x="548640" y="1463040"/>
            <a:ext cx="1417320" cy="365760"/>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CATEGORY</a:t>
            </a:r>
            <a:endParaRPr lang="en-US" sz="1000" dirty="0"/>
          </a:p>
        </p:txBody>
      </p:sp>
      <p:sp>
        <p:nvSpPr>
          <p:cNvPr id="7" name="Text 5"/>
          <p:cNvSpPr/>
          <p:nvPr/>
        </p:nvSpPr>
        <p:spPr>
          <a:xfrm>
            <a:off x="822960" y="1965960"/>
            <a:ext cx="4846320" cy="45720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Grocery &amp; Staples leads volume</a:t>
            </a:r>
            <a:endParaRPr lang="en-US" sz="1600" dirty="0"/>
          </a:p>
        </p:txBody>
      </p:sp>
      <p:sp>
        <p:nvSpPr>
          <p:cNvPr id="8" name="Text 6"/>
          <p:cNvSpPr/>
          <p:nvPr/>
        </p:nvSpPr>
        <p:spPr>
          <a:xfrm>
            <a:off x="822960" y="2423160"/>
            <a:ext cx="4846320" cy="1051560"/>
          </a:xfrm>
          <a:prstGeom prst="rect">
            <a:avLst/>
          </a:prstGeom>
          <a:noFill/>
          <a:ln/>
        </p:spPr>
        <p:txBody>
          <a:bodyPr wrap="square" lIns="0" tIns="0" rIns="0" bIns="0" rtlCol="0" anchor="t"/>
          <a:lstStyle/>
          <a:p>
            <a:pPr marL="0" indent="0">
              <a:lnSpc>
                <a:spcPct val="125000"/>
              </a:lnSpc>
              <a:buNone/>
            </a:pPr>
            <a:r>
              <a:rPr lang="en-US" sz="1150" dirty="0">
                <a:solidFill>
                  <a:srgbClr val="1B1F3B"/>
                </a:solidFill>
                <a:latin typeface="Calibri" pitchFamily="34" charset="0"/>
                <a:ea typeface="Calibri" pitchFamily="34" charset="-122"/>
                <a:cs typeface="Calibri" pitchFamily="34" charset="-120"/>
              </a:rPr>
              <a:t>Grocery &amp; Staples is the dominant volume driver, contributing 70.51% of Sankranti quantity sold and the highest baseline demand (mean 314.79 units) of any category.</a:t>
            </a:r>
            <a:endParaRPr lang="en-US" sz="1150" dirty="0"/>
          </a:p>
        </p:txBody>
      </p:sp>
      <p:sp>
        <p:nvSpPr>
          <p:cNvPr id="9" name="Shape 7"/>
          <p:cNvSpPr/>
          <p:nvPr/>
        </p:nvSpPr>
        <p:spPr>
          <a:xfrm>
            <a:off x="6245352" y="1463040"/>
            <a:ext cx="5394960" cy="2148840"/>
          </a:xfrm>
          <a:prstGeom prst="roundRect">
            <a:avLst>
              <a:gd name="adj" fmla="val 3404"/>
            </a:avLst>
          </a:prstGeom>
          <a:solidFill>
            <a:srgbClr val="FFFFFF"/>
          </a:solidFill>
          <a:ln w="12700">
            <a:solidFill>
              <a:srgbClr val="E3E7F1"/>
            </a:solidFill>
            <a:prstDash val="solid"/>
          </a:ln>
          <a:effectLst>
            <a:outerShdw blurRad="76200" dist="25400" dir="5400000" algn="bl" rotWithShape="0">
              <a:srgbClr val="9AA5C7">
                <a:alpha val="30000"/>
              </a:srgbClr>
            </a:outerShdw>
          </a:effectLst>
        </p:spPr>
        <p:txBody>
          <a:bodyPr/>
          <a:lstStyle/>
          <a:p>
            <a:endParaRPr lang="en-IN"/>
          </a:p>
        </p:txBody>
      </p:sp>
      <p:sp>
        <p:nvSpPr>
          <p:cNvPr id="10" name="Shape 8"/>
          <p:cNvSpPr/>
          <p:nvPr/>
        </p:nvSpPr>
        <p:spPr>
          <a:xfrm>
            <a:off x="6245352" y="1463040"/>
            <a:ext cx="1417320" cy="365760"/>
          </a:xfrm>
          <a:prstGeom prst="roundRect">
            <a:avLst>
              <a:gd name="adj" fmla="val 20000"/>
            </a:avLst>
          </a:prstGeom>
          <a:solidFill>
            <a:srgbClr val="1E2761"/>
          </a:solidFill>
          <a:ln/>
        </p:spPr>
        <p:txBody>
          <a:bodyPr/>
          <a:lstStyle/>
          <a:p>
            <a:endParaRPr lang="en-IN"/>
          </a:p>
        </p:txBody>
      </p:sp>
      <p:sp>
        <p:nvSpPr>
          <p:cNvPr id="11" name="Text 9"/>
          <p:cNvSpPr/>
          <p:nvPr/>
        </p:nvSpPr>
        <p:spPr>
          <a:xfrm>
            <a:off x="6245352" y="1463040"/>
            <a:ext cx="1417320" cy="365760"/>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GEOGRAPHY</a:t>
            </a:r>
            <a:endParaRPr lang="en-US" sz="1000" dirty="0"/>
          </a:p>
        </p:txBody>
      </p:sp>
      <p:sp>
        <p:nvSpPr>
          <p:cNvPr id="12" name="Text 10"/>
          <p:cNvSpPr/>
          <p:nvPr/>
        </p:nvSpPr>
        <p:spPr>
          <a:xfrm>
            <a:off x="6519672" y="1965960"/>
            <a:ext cx="4846320" cy="45720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Madurai leads volume response</a:t>
            </a:r>
            <a:endParaRPr lang="en-US" sz="1600" dirty="0"/>
          </a:p>
        </p:txBody>
      </p:sp>
      <p:sp>
        <p:nvSpPr>
          <p:cNvPr id="13" name="Text 11"/>
          <p:cNvSpPr/>
          <p:nvPr/>
        </p:nvSpPr>
        <p:spPr>
          <a:xfrm>
            <a:off x="6519672" y="2423160"/>
            <a:ext cx="4846320" cy="1051560"/>
          </a:xfrm>
          <a:prstGeom prst="rect">
            <a:avLst/>
          </a:prstGeom>
          <a:noFill/>
          <a:ln/>
        </p:spPr>
        <p:txBody>
          <a:bodyPr wrap="square" lIns="0" tIns="0" rIns="0" bIns="0" rtlCol="0" anchor="t"/>
          <a:lstStyle/>
          <a:p>
            <a:pPr marL="0" indent="0">
              <a:lnSpc>
                <a:spcPct val="125000"/>
              </a:lnSpc>
              <a:buNone/>
            </a:pPr>
            <a:r>
              <a:rPr lang="en-US" sz="1150" dirty="0">
                <a:solidFill>
                  <a:srgbClr val="1B1F3B"/>
                </a:solidFill>
                <a:latin typeface="Calibri" pitchFamily="34" charset="0"/>
                <a:ea typeface="Calibri" pitchFamily="34" charset="-122"/>
                <a:cs typeface="Calibri" pitchFamily="34" charset="-120"/>
              </a:rPr>
              <a:t>Madurai shows the strongest sales-volume response to promotions at 121.28% ISU, ahead of every other city in the network.</a:t>
            </a:r>
            <a:endParaRPr lang="en-US" sz="1150" dirty="0"/>
          </a:p>
        </p:txBody>
      </p:sp>
      <p:sp>
        <p:nvSpPr>
          <p:cNvPr id="14" name="Shape 12"/>
          <p:cNvSpPr/>
          <p:nvPr/>
        </p:nvSpPr>
        <p:spPr>
          <a:xfrm>
            <a:off x="548640" y="3886200"/>
            <a:ext cx="5394960" cy="2148840"/>
          </a:xfrm>
          <a:prstGeom prst="roundRect">
            <a:avLst>
              <a:gd name="adj" fmla="val 3404"/>
            </a:avLst>
          </a:prstGeom>
          <a:solidFill>
            <a:srgbClr val="FFFFFF"/>
          </a:solidFill>
          <a:ln w="12700">
            <a:solidFill>
              <a:srgbClr val="E3E7F1"/>
            </a:solidFill>
            <a:prstDash val="solid"/>
          </a:ln>
          <a:effectLst>
            <a:outerShdw blurRad="76200" dist="25400" dir="5400000" algn="bl" rotWithShape="0">
              <a:srgbClr val="9AA5C7">
                <a:alpha val="30000"/>
              </a:srgbClr>
            </a:outerShdw>
          </a:effectLst>
        </p:spPr>
        <p:txBody>
          <a:bodyPr/>
          <a:lstStyle/>
          <a:p>
            <a:endParaRPr lang="en-IN"/>
          </a:p>
        </p:txBody>
      </p:sp>
      <p:sp>
        <p:nvSpPr>
          <p:cNvPr id="15" name="Shape 13"/>
          <p:cNvSpPr/>
          <p:nvPr/>
        </p:nvSpPr>
        <p:spPr>
          <a:xfrm>
            <a:off x="548640" y="3886200"/>
            <a:ext cx="1417320" cy="365760"/>
          </a:xfrm>
          <a:prstGeom prst="roundRect">
            <a:avLst>
              <a:gd name="adj" fmla="val 20000"/>
            </a:avLst>
          </a:prstGeom>
          <a:solidFill>
            <a:srgbClr val="1E2761"/>
          </a:solidFill>
          <a:ln/>
        </p:spPr>
        <p:txBody>
          <a:bodyPr/>
          <a:lstStyle/>
          <a:p>
            <a:endParaRPr lang="en-IN"/>
          </a:p>
        </p:txBody>
      </p:sp>
      <p:sp>
        <p:nvSpPr>
          <p:cNvPr id="16" name="Text 14"/>
          <p:cNvSpPr/>
          <p:nvPr/>
        </p:nvSpPr>
        <p:spPr>
          <a:xfrm>
            <a:off x="548640" y="3886200"/>
            <a:ext cx="1417320" cy="365760"/>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PROMOTION</a:t>
            </a:r>
            <a:endParaRPr lang="en-US" sz="1000" dirty="0"/>
          </a:p>
        </p:txBody>
      </p:sp>
      <p:sp>
        <p:nvSpPr>
          <p:cNvPr id="17" name="Text 15"/>
          <p:cNvSpPr/>
          <p:nvPr/>
        </p:nvSpPr>
        <p:spPr>
          <a:xfrm>
            <a:off x="822960" y="4389120"/>
            <a:ext cx="4846320" cy="45720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Volume and revenue diverge</a:t>
            </a:r>
            <a:endParaRPr lang="en-US" sz="1600" dirty="0"/>
          </a:p>
        </p:txBody>
      </p:sp>
      <p:sp>
        <p:nvSpPr>
          <p:cNvPr id="18" name="Text 16"/>
          <p:cNvSpPr/>
          <p:nvPr/>
        </p:nvSpPr>
        <p:spPr>
          <a:xfrm>
            <a:off x="822960" y="4846320"/>
            <a:ext cx="4846320" cy="1051560"/>
          </a:xfrm>
          <a:prstGeom prst="rect">
            <a:avLst/>
          </a:prstGeom>
          <a:noFill/>
          <a:ln/>
        </p:spPr>
        <p:txBody>
          <a:bodyPr wrap="square" lIns="0" tIns="0" rIns="0" bIns="0" rtlCol="0" anchor="t"/>
          <a:lstStyle/>
          <a:p>
            <a:pPr marL="0" indent="0">
              <a:lnSpc>
                <a:spcPct val="125000"/>
              </a:lnSpc>
              <a:buNone/>
            </a:pPr>
            <a:r>
              <a:rPr lang="en-US" sz="1150" dirty="0">
                <a:solidFill>
                  <a:srgbClr val="1B1F3B"/>
                </a:solidFill>
                <a:latin typeface="Calibri" pitchFamily="34" charset="0"/>
                <a:ea typeface="Calibri" pitchFamily="34" charset="-122"/>
                <a:cs typeface="Calibri" pitchFamily="34" charset="-120"/>
              </a:rPr>
              <a:t>In Hyderabad, BOGOF maximizes volume (252.83% ISU) while 500 Cashback maximizes revenue (122.82% IR) — the two objectives call for different promotion types.</a:t>
            </a:r>
            <a:endParaRPr lang="en-US" sz="1150" dirty="0"/>
          </a:p>
        </p:txBody>
      </p:sp>
      <p:sp>
        <p:nvSpPr>
          <p:cNvPr id="19" name="Shape 17"/>
          <p:cNvSpPr/>
          <p:nvPr/>
        </p:nvSpPr>
        <p:spPr>
          <a:xfrm>
            <a:off x="6245352" y="3886200"/>
            <a:ext cx="5394960" cy="2148840"/>
          </a:xfrm>
          <a:prstGeom prst="roundRect">
            <a:avLst>
              <a:gd name="adj" fmla="val 3404"/>
            </a:avLst>
          </a:prstGeom>
          <a:solidFill>
            <a:srgbClr val="FFFFFF"/>
          </a:solidFill>
          <a:ln w="12700">
            <a:solidFill>
              <a:srgbClr val="E3E7F1"/>
            </a:solidFill>
            <a:prstDash val="solid"/>
          </a:ln>
          <a:effectLst>
            <a:outerShdw blurRad="76200" dist="25400" dir="5400000" algn="bl" rotWithShape="0">
              <a:srgbClr val="9AA5C7">
                <a:alpha val="30000"/>
              </a:srgbClr>
            </a:outerShdw>
          </a:effectLst>
        </p:spPr>
        <p:txBody>
          <a:bodyPr/>
          <a:lstStyle/>
          <a:p>
            <a:endParaRPr lang="en-IN"/>
          </a:p>
        </p:txBody>
      </p:sp>
      <p:sp>
        <p:nvSpPr>
          <p:cNvPr id="20" name="Shape 18"/>
          <p:cNvSpPr/>
          <p:nvPr/>
        </p:nvSpPr>
        <p:spPr>
          <a:xfrm>
            <a:off x="6245352" y="3886200"/>
            <a:ext cx="1417320" cy="365760"/>
          </a:xfrm>
          <a:prstGeom prst="roundRect">
            <a:avLst>
              <a:gd name="adj" fmla="val 20000"/>
            </a:avLst>
          </a:prstGeom>
          <a:solidFill>
            <a:srgbClr val="1E2761"/>
          </a:solidFill>
          <a:ln/>
        </p:spPr>
        <p:txBody>
          <a:bodyPr/>
          <a:lstStyle/>
          <a:p>
            <a:endParaRPr lang="en-IN"/>
          </a:p>
        </p:txBody>
      </p:sp>
      <p:sp>
        <p:nvSpPr>
          <p:cNvPr id="21" name="Text 19"/>
          <p:cNvSpPr/>
          <p:nvPr/>
        </p:nvSpPr>
        <p:spPr>
          <a:xfrm>
            <a:off x="6245352" y="3886200"/>
            <a:ext cx="1417320" cy="365760"/>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REVENUE</a:t>
            </a:r>
            <a:endParaRPr lang="en-US" sz="1000" dirty="0"/>
          </a:p>
        </p:txBody>
      </p:sp>
      <p:sp>
        <p:nvSpPr>
          <p:cNvPr id="22" name="Text 20"/>
          <p:cNvSpPr/>
          <p:nvPr/>
        </p:nvSpPr>
        <p:spPr>
          <a:xfrm>
            <a:off x="6519672" y="4389120"/>
            <a:ext cx="4846320" cy="45720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Bengaluru grew, unevenly</a:t>
            </a:r>
            <a:endParaRPr lang="en-US" sz="1600" dirty="0"/>
          </a:p>
        </p:txBody>
      </p:sp>
      <p:sp>
        <p:nvSpPr>
          <p:cNvPr id="23" name="Text 21"/>
          <p:cNvSpPr/>
          <p:nvPr/>
        </p:nvSpPr>
        <p:spPr>
          <a:xfrm>
            <a:off x="6519672" y="4846320"/>
            <a:ext cx="4846320" cy="1051560"/>
          </a:xfrm>
          <a:prstGeom prst="rect">
            <a:avLst/>
          </a:prstGeom>
          <a:noFill/>
          <a:ln/>
        </p:spPr>
        <p:txBody>
          <a:bodyPr wrap="square" lIns="0" tIns="0" rIns="0" bIns="0" rtlCol="0" anchor="t"/>
          <a:lstStyle/>
          <a:p>
            <a:pPr marL="0" indent="0">
              <a:lnSpc>
                <a:spcPct val="125000"/>
              </a:lnSpc>
              <a:buNone/>
            </a:pPr>
            <a:r>
              <a:rPr lang="en-US" sz="1150" dirty="0">
                <a:solidFill>
                  <a:srgbClr val="1B1F3B"/>
                </a:solidFill>
                <a:latin typeface="Calibri" pitchFamily="34" charset="0"/>
                <a:ea typeface="Calibri" pitchFamily="34" charset="-122"/>
                <a:cs typeface="Calibri" pitchFamily="34" charset="-120"/>
              </a:rPr>
              <a:t>Bengaluru promotions generated ~83.90% overall revenue growth, but that growth was concentrated in Combo1 while Personal Care revenue declined.</a:t>
            </a:r>
            <a:endParaRPr lang="en-US" sz="1150" dirty="0"/>
          </a:p>
        </p:txBody>
      </p:sp>
      <p:sp>
        <p:nvSpPr>
          <p:cNvPr id="24" name="Text 22"/>
          <p:cNvSpPr/>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5B6178"/>
                </a:solidFill>
                <a:latin typeface="Calibri" pitchFamily="34" charset="0"/>
                <a:ea typeface="Calibri" pitchFamily="34" charset="-122"/>
                <a:cs typeface="Calibri" pitchFamily="34" charset="-120"/>
              </a:rPr>
              <a:t>Nova Mart Campaign Performance Analysis</a:t>
            </a:r>
            <a:endParaRPr lang="en-US" sz="900" dirty="0"/>
          </a:p>
        </p:txBody>
      </p:sp>
      <p:sp>
        <p:nvSpPr>
          <p:cNvPr id="25" name="Text 23"/>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5B617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150" dirty="0">
                <a:solidFill>
                  <a:srgbClr val="C99A3A"/>
                </a:solidFill>
                <a:latin typeface="Calibri" pitchFamily="34" charset="0"/>
                <a:ea typeface="Calibri" pitchFamily="34" charset="-122"/>
                <a:cs typeface="Calibri" pitchFamily="34" charset="-120"/>
              </a:rPr>
              <a:t>RECOMMENDATIONS</a:t>
            </a:r>
            <a:endParaRPr lang="en-US" sz="1200" dirty="0"/>
          </a:p>
        </p:txBody>
      </p:sp>
      <p:sp>
        <p:nvSpPr>
          <p:cNvPr id="3" name="Text 1"/>
          <p:cNvSpPr/>
          <p:nvPr/>
        </p:nvSpPr>
        <p:spPr>
          <a:xfrm>
            <a:off x="548640" y="566928"/>
            <a:ext cx="11064240" cy="59436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Five Actions for the Next Campaign Cycle</a:t>
            </a:r>
            <a:endParaRPr lang="en-US" sz="2800" dirty="0"/>
          </a:p>
        </p:txBody>
      </p:sp>
      <p:sp>
        <p:nvSpPr>
          <p:cNvPr id="4" name="Shape 2"/>
          <p:cNvSpPr/>
          <p:nvPr/>
        </p:nvSpPr>
        <p:spPr>
          <a:xfrm>
            <a:off x="548640" y="1490472"/>
            <a:ext cx="566928" cy="566928"/>
          </a:xfrm>
          <a:prstGeom prst="ellipse">
            <a:avLst/>
          </a:prstGeom>
          <a:solidFill>
            <a:srgbClr val="1E2761"/>
          </a:solidFill>
          <a:ln/>
        </p:spPr>
        <p:txBody>
          <a:bodyPr/>
          <a:lstStyle/>
          <a:p>
            <a:endParaRPr lang="en-IN"/>
          </a:p>
        </p:txBody>
      </p:sp>
      <p:sp>
        <p:nvSpPr>
          <p:cNvPr id="5" name="Text 3"/>
          <p:cNvSpPr/>
          <p:nvPr/>
        </p:nvSpPr>
        <p:spPr>
          <a:xfrm>
            <a:off x="548640" y="1490472"/>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325880" y="1417320"/>
            <a:ext cx="10241280" cy="329184"/>
          </a:xfrm>
          <a:prstGeom prst="rect">
            <a:avLst/>
          </a:prstGeom>
          <a:noFill/>
          <a:ln/>
        </p:spPr>
        <p:txBody>
          <a:bodyPr wrap="square" lIns="0" tIns="0" rIns="0" bIns="0"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Prioritize high-performing categories</a:t>
            </a:r>
            <a:endParaRPr lang="en-US" sz="1550" dirty="0"/>
          </a:p>
        </p:txBody>
      </p:sp>
      <p:sp>
        <p:nvSpPr>
          <p:cNvPr id="7" name="Text 5"/>
          <p:cNvSpPr/>
          <p:nvPr/>
        </p:nvSpPr>
        <p:spPr>
          <a:xfrm>
            <a:off x="1325880" y="1746504"/>
            <a:ext cx="10241280" cy="457200"/>
          </a:xfrm>
          <a:prstGeom prst="rect">
            <a:avLst/>
          </a:prstGeom>
          <a:noFill/>
          <a:ln/>
        </p:spPr>
        <p:txBody>
          <a:bodyPr wrap="square" lIns="0" tIns="0" rIns="0" bIns="0" rtlCol="0" anchor="ctr"/>
          <a:lstStyle/>
          <a:p>
            <a:pPr marL="0" indent="0">
              <a:lnSpc>
                <a:spcPct val="115000"/>
              </a:lnSpc>
              <a:buNone/>
            </a:pPr>
            <a:r>
              <a:rPr lang="en-US" sz="1150" dirty="0">
                <a:solidFill>
                  <a:srgbClr val="1B1F3B"/>
                </a:solidFill>
                <a:latin typeface="Calibri" pitchFamily="34" charset="0"/>
                <a:ea typeface="Calibri" pitchFamily="34" charset="-122"/>
                <a:cs typeface="Calibri" pitchFamily="34" charset="-120"/>
              </a:rPr>
              <a:t>Protect inventory availability and promotional depth for Grocery &amp; Staples and Combo1, the largest and fastest-growing volume and revenue drivers.</a:t>
            </a:r>
            <a:endParaRPr lang="en-US" sz="1150" dirty="0"/>
          </a:p>
        </p:txBody>
      </p:sp>
      <p:sp>
        <p:nvSpPr>
          <p:cNvPr id="8" name="Shape 6"/>
          <p:cNvSpPr/>
          <p:nvPr/>
        </p:nvSpPr>
        <p:spPr>
          <a:xfrm>
            <a:off x="548640" y="2386584"/>
            <a:ext cx="566928" cy="566928"/>
          </a:xfrm>
          <a:prstGeom prst="ellipse">
            <a:avLst/>
          </a:prstGeom>
          <a:solidFill>
            <a:srgbClr val="1E2761"/>
          </a:solidFill>
          <a:ln/>
        </p:spPr>
        <p:txBody>
          <a:bodyPr/>
          <a:lstStyle/>
          <a:p>
            <a:endParaRPr lang="en-IN"/>
          </a:p>
        </p:txBody>
      </p:sp>
      <p:sp>
        <p:nvSpPr>
          <p:cNvPr id="9" name="Text 7"/>
          <p:cNvSpPr/>
          <p:nvPr/>
        </p:nvSpPr>
        <p:spPr>
          <a:xfrm>
            <a:off x="548640" y="2386584"/>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1325880" y="2313432"/>
            <a:ext cx="10241280" cy="329184"/>
          </a:xfrm>
          <a:prstGeom prst="rect">
            <a:avLst/>
          </a:prstGeom>
          <a:noFill/>
          <a:ln/>
        </p:spPr>
        <p:txBody>
          <a:bodyPr wrap="square" lIns="0" tIns="0" rIns="0" bIns="0"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Match promotion type to objective</a:t>
            </a:r>
            <a:endParaRPr lang="en-US" sz="1550" dirty="0"/>
          </a:p>
        </p:txBody>
      </p:sp>
      <p:sp>
        <p:nvSpPr>
          <p:cNvPr id="11" name="Text 9"/>
          <p:cNvSpPr/>
          <p:nvPr/>
        </p:nvSpPr>
        <p:spPr>
          <a:xfrm>
            <a:off x="1325880" y="2642616"/>
            <a:ext cx="10241280" cy="457200"/>
          </a:xfrm>
          <a:prstGeom prst="rect">
            <a:avLst/>
          </a:prstGeom>
          <a:noFill/>
          <a:ln/>
        </p:spPr>
        <p:txBody>
          <a:bodyPr wrap="square" lIns="0" tIns="0" rIns="0" bIns="0" rtlCol="0" anchor="ctr"/>
          <a:lstStyle/>
          <a:p>
            <a:pPr marL="0" indent="0">
              <a:lnSpc>
                <a:spcPct val="115000"/>
              </a:lnSpc>
              <a:buNone/>
            </a:pPr>
            <a:r>
              <a:rPr lang="en-US" sz="1150" dirty="0">
                <a:solidFill>
                  <a:srgbClr val="1B1F3B"/>
                </a:solidFill>
                <a:latin typeface="Calibri" pitchFamily="34" charset="0"/>
                <a:ea typeface="Calibri" pitchFamily="34" charset="-122"/>
                <a:cs typeface="Calibri" pitchFamily="34" charset="-120"/>
              </a:rPr>
              <a:t>Use BOGOF-style mechanics when the goal is sales volume; use cashback-style mechanics when the goal is revenue growth — the two are not interchangeable.</a:t>
            </a:r>
            <a:endParaRPr lang="en-US" sz="1150" dirty="0"/>
          </a:p>
        </p:txBody>
      </p:sp>
      <p:sp>
        <p:nvSpPr>
          <p:cNvPr id="12" name="Shape 10"/>
          <p:cNvSpPr/>
          <p:nvPr/>
        </p:nvSpPr>
        <p:spPr>
          <a:xfrm>
            <a:off x="548640" y="3282696"/>
            <a:ext cx="566928" cy="566928"/>
          </a:xfrm>
          <a:prstGeom prst="ellipse">
            <a:avLst/>
          </a:prstGeom>
          <a:solidFill>
            <a:srgbClr val="1E2761"/>
          </a:solidFill>
          <a:ln/>
        </p:spPr>
        <p:txBody>
          <a:bodyPr/>
          <a:lstStyle/>
          <a:p>
            <a:endParaRPr lang="en-IN"/>
          </a:p>
        </p:txBody>
      </p:sp>
      <p:sp>
        <p:nvSpPr>
          <p:cNvPr id="13" name="Text 11"/>
          <p:cNvSpPr/>
          <p:nvPr/>
        </p:nvSpPr>
        <p:spPr>
          <a:xfrm>
            <a:off x="548640" y="3282696"/>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4" name="Text 12"/>
          <p:cNvSpPr/>
          <p:nvPr/>
        </p:nvSpPr>
        <p:spPr>
          <a:xfrm>
            <a:off x="1325880" y="3209544"/>
            <a:ext cx="10241280" cy="329184"/>
          </a:xfrm>
          <a:prstGeom prst="rect">
            <a:avLst/>
          </a:prstGeom>
          <a:noFill/>
          <a:ln/>
        </p:spPr>
        <p:txBody>
          <a:bodyPr wrap="square" lIns="0" tIns="0" rIns="0" bIns="0"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Replicate what works in top markets</a:t>
            </a:r>
            <a:endParaRPr lang="en-US" sz="1550" dirty="0"/>
          </a:p>
        </p:txBody>
      </p:sp>
      <p:sp>
        <p:nvSpPr>
          <p:cNvPr id="15" name="Text 13"/>
          <p:cNvSpPr/>
          <p:nvPr/>
        </p:nvSpPr>
        <p:spPr>
          <a:xfrm>
            <a:off x="1325880" y="3538728"/>
            <a:ext cx="10241280" cy="457200"/>
          </a:xfrm>
          <a:prstGeom prst="rect">
            <a:avLst/>
          </a:prstGeom>
          <a:noFill/>
          <a:ln/>
        </p:spPr>
        <p:txBody>
          <a:bodyPr wrap="square" lIns="0" tIns="0" rIns="0" bIns="0" rtlCol="0" anchor="ctr"/>
          <a:lstStyle/>
          <a:p>
            <a:pPr marL="0" indent="0">
              <a:lnSpc>
                <a:spcPct val="115000"/>
              </a:lnSpc>
              <a:buNone/>
            </a:pPr>
            <a:r>
              <a:rPr lang="en-US" sz="1150" dirty="0">
                <a:solidFill>
                  <a:srgbClr val="1B1F3B"/>
                </a:solidFill>
                <a:latin typeface="Calibri" pitchFamily="34" charset="0"/>
                <a:ea typeface="Calibri" pitchFamily="34" charset="-122"/>
                <a:cs typeface="Calibri" pitchFamily="34" charset="-120"/>
              </a:rPr>
              <a:t>Study Madurai's promotion cadence and execution to identify practices that could lift lower-responding cities such as Visakhapatnam and Mangalore.</a:t>
            </a:r>
            <a:endParaRPr lang="en-US" sz="1150" dirty="0"/>
          </a:p>
        </p:txBody>
      </p:sp>
      <p:sp>
        <p:nvSpPr>
          <p:cNvPr id="16" name="Shape 14"/>
          <p:cNvSpPr/>
          <p:nvPr/>
        </p:nvSpPr>
        <p:spPr>
          <a:xfrm>
            <a:off x="548640" y="4178808"/>
            <a:ext cx="566928" cy="566928"/>
          </a:xfrm>
          <a:prstGeom prst="ellipse">
            <a:avLst/>
          </a:prstGeom>
          <a:solidFill>
            <a:srgbClr val="1E2761"/>
          </a:solidFill>
          <a:ln/>
        </p:spPr>
        <p:txBody>
          <a:bodyPr/>
          <a:lstStyle/>
          <a:p>
            <a:endParaRPr lang="en-IN"/>
          </a:p>
        </p:txBody>
      </p:sp>
      <p:sp>
        <p:nvSpPr>
          <p:cNvPr id="17" name="Text 15"/>
          <p:cNvSpPr/>
          <p:nvPr/>
        </p:nvSpPr>
        <p:spPr>
          <a:xfrm>
            <a:off x="548640" y="4178808"/>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8" name="Text 16"/>
          <p:cNvSpPr/>
          <p:nvPr/>
        </p:nvSpPr>
        <p:spPr>
          <a:xfrm>
            <a:off x="1325880" y="4105656"/>
            <a:ext cx="10241280" cy="329184"/>
          </a:xfrm>
          <a:prstGeom prst="rect">
            <a:avLst/>
          </a:prstGeom>
          <a:noFill/>
          <a:ln/>
        </p:spPr>
        <p:txBody>
          <a:bodyPr wrap="square" lIns="0" tIns="0" rIns="0" bIns="0"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Investigate underperforming categories</a:t>
            </a:r>
            <a:endParaRPr lang="en-US" sz="1550" dirty="0"/>
          </a:p>
        </p:txBody>
      </p:sp>
      <p:sp>
        <p:nvSpPr>
          <p:cNvPr id="19" name="Text 17"/>
          <p:cNvSpPr/>
          <p:nvPr/>
        </p:nvSpPr>
        <p:spPr>
          <a:xfrm>
            <a:off x="1325880" y="4434840"/>
            <a:ext cx="10241280" cy="457200"/>
          </a:xfrm>
          <a:prstGeom prst="rect">
            <a:avLst/>
          </a:prstGeom>
          <a:noFill/>
          <a:ln/>
        </p:spPr>
        <p:txBody>
          <a:bodyPr wrap="square" lIns="0" tIns="0" rIns="0" bIns="0" rtlCol="0" anchor="ctr"/>
          <a:lstStyle/>
          <a:p>
            <a:pPr marL="0" indent="0">
              <a:lnSpc>
                <a:spcPct val="115000"/>
              </a:lnSpc>
              <a:buNone/>
            </a:pPr>
            <a:r>
              <a:rPr lang="en-US" sz="1150" dirty="0">
                <a:solidFill>
                  <a:srgbClr val="1B1F3B"/>
                </a:solidFill>
                <a:latin typeface="Calibri" pitchFamily="34" charset="0"/>
                <a:ea typeface="Calibri" pitchFamily="34" charset="-122"/>
                <a:cs typeface="Calibri" pitchFamily="34" charset="-120"/>
              </a:rPr>
              <a:t>Run a focused root-cause review of Personal Care, the only category with declining revenue in Bengaluru, before the next campaign.</a:t>
            </a:r>
            <a:endParaRPr lang="en-US" sz="1150" dirty="0"/>
          </a:p>
        </p:txBody>
      </p:sp>
      <p:sp>
        <p:nvSpPr>
          <p:cNvPr id="20" name="Shape 18"/>
          <p:cNvSpPr/>
          <p:nvPr/>
        </p:nvSpPr>
        <p:spPr>
          <a:xfrm>
            <a:off x="548640" y="5074920"/>
            <a:ext cx="566928" cy="566928"/>
          </a:xfrm>
          <a:prstGeom prst="ellipse">
            <a:avLst/>
          </a:prstGeom>
          <a:solidFill>
            <a:srgbClr val="1E2761"/>
          </a:solidFill>
          <a:ln/>
        </p:spPr>
        <p:txBody>
          <a:bodyPr/>
          <a:lstStyle/>
          <a:p>
            <a:endParaRPr lang="en-IN"/>
          </a:p>
        </p:txBody>
      </p:sp>
      <p:sp>
        <p:nvSpPr>
          <p:cNvPr id="21" name="Text 19"/>
          <p:cNvSpPr/>
          <p:nvPr/>
        </p:nvSpPr>
        <p:spPr>
          <a:xfrm>
            <a:off x="548640" y="507492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2" name="Text 20"/>
          <p:cNvSpPr/>
          <p:nvPr/>
        </p:nvSpPr>
        <p:spPr>
          <a:xfrm>
            <a:off x="1325880" y="5001768"/>
            <a:ext cx="10241280" cy="329184"/>
          </a:xfrm>
          <a:prstGeom prst="rect">
            <a:avLst/>
          </a:prstGeom>
          <a:noFill/>
          <a:ln/>
        </p:spPr>
        <p:txBody>
          <a:bodyPr wrap="square" lIns="0" tIns="0" rIns="0" bIns="0"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Move to segmented promotion strategy</a:t>
            </a:r>
            <a:endParaRPr lang="en-US" sz="1550" dirty="0"/>
          </a:p>
        </p:txBody>
      </p:sp>
      <p:sp>
        <p:nvSpPr>
          <p:cNvPr id="23" name="Text 21"/>
          <p:cNvSpPr/>
          <p:nvPr/>
        </p:nvSpPr>
        <p:spPr>
          <a:xfrm>
            <a:off x="1325880" y="5330952"/>
            <a:ext cx="10241280" cy="457200"/>
          </a:xfrm>
          <a:prstGeom prst="rect">
            <a:avLst/>
          </a:prstGeom>
          <a:noFill/>
          <a:ln/>
        </p:spPr>
        <p:txBody>
          <a:bodyPr wrap="square" lIns="0" tIns="0" rIns="0" bIns="0" rtlCol="0" anchor="ctr"/>
          <a:lstStyle/>
          <a:p>
            <a:pPr marL="0" indent="0">
              <a:lnSpc>
                <a:spcPct val="115000"/>
              </a:lnSpc>
              <a:buNone/>
            </a:pPr>
            <a:r>
              <a:rPr lang="en-US" sz="1150" dirty="0">
                <a:solidFill>
                  <a:srgbClr val="1B1F3B"/>
                </a:solidFill>
                <a:latin typeface="Calibri" pitchFamily="34" charset="0"/>
                <a:ea typeface="Calibri" pitchFamily="34" charset="-122"/>
                <a:cs typeface="Calibri" pitchFamily="34" charset="-120"/>
              </a:rPr>
              <a:t>Replace a single, network-wide promotion plan with city-, category-, and promotion-type-specific strategies informed by this analysis.</a:t>
            </a:r>
            <a:endParaRPr lang="en-US" sz="1150" dirty="0"/>
          </a:p>
        </p:txBody>
      </p:sp>
      <p:sp>
        <p:nvSpPr>
          <p:cNvPr id="24" name="Text 22"/>
          <p:cNvSpPr/>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5B6178"/>
                </a:solidFill>
                <a:latin typeface="Calibri" pitchFamily="34" charset="0"/>
                <a:ea typeface="Calibri" pitchFamily="34" charset="-122"/>
                <a:cs typeface="Calibri" pitchFamily="34" charset="-120"/>
              </a:rPr>
              <a:t>Nova Mart Campaign Performance Analysis</a:t>
            </a:r>
            <a:endParaRPr lang="en-US" sz="900" dirty="0"/>
          </a:p>
        </p:txBody>
      </p:sp>
      <p:sp>
        <p:nvSpPr>
          <p:cNvPr id="25" name="Text 23"/>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5B617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2286000" y="-2286000"/>
            <a:ext cx="5486400" cy="5486400"/>
          </a:xfrm>
          <a:prstGeom prst="ellipse">
            <a:avLst/>
          </a:prstGeom>
          <a:solidFill>
            <a:srgbClr val="141B47"/>
          </a:solidFill>
          <a:ln/>
        </p:spPr>
        <p:txBody>
          <a:bodyPr/>
          <a:lstStyle/>
          <a:p>
            <a:endParaRPr lang="en-IN"/>
          </a:p>
        </p:txBody>
      </p:sp>
      <p:sp>
        <p:nvSpPr>
          <p:cNvPr id="3" name="Shape 1"/>
          <p:cNvSpPr/>
          <p:nvPr/>
        </p:nvSpPr>
        <p:spPr>
          <a:xfrm>
            <a:off x="9875520" y="4114800"/>
            <a:ext cx="5029200" cy="5029200"/>
          </a:xfrm>
          <a:prstGeom prst="ellipse">
            <a:avLst/>
          </a:prstGeom>
          <a:solidFill>
            <a:srgbClr val="141B47"/>
          </a:solidFill>
          <a:ln/>
        </p:spPr>
        <p:txBody>
          <a:bodyPr/>
          <a:lstStyle/>
          <a:p>
            <a:endParaRPr lang="en-IN"/>
          </a:p>
        </p:txBody>
      </p:sp>
      <p:sp>
        <p:nvSpPr>
          <p:cNvPr id="4" name="Text 2"/>
          <p:cNvSpPr/>
          <p:nvPr/>
        </p:nvSpPr>
        <p:spPr>
          <a:xfrm>
            <a:off x="822960" y="1371600"/>
            <a:ext cx="5486400" cy="320040"/>
          </a:xfrm>
          <a:prstGeom prst="rect">
            <a:avLst/>
          </a:prstGeom>
          <a:noFill/>
          <a:ln/>
        </p:spPr>
        <p:txBody>
          <a:bodyPr wrap="square" lIns="0" tIns="0" rIns="0" bIns="0" rtlCol="0" anchor="ctr"/>
          <a:lstStyle/>
          <a:p>
            <a:pPr marL="0" indent="0">
              <a:buNone/>
            </a:pPr>
            <a:r>
              <a:rPr lang="en-US" sz="1300" b="1" kern="0" spc="200" dirty="0">
                <a:solidFill>
                  <a:srgbClr val="C99A3A"/>
                </a:solidFill>
                <a:latin typeface="Calibri" pitchFamily="34" charset="0"/>
                <a:ea typeface="Calibri" pitchFamily="34" charset="-122"/>
                <a:cs typeface="Calibri" pitchFamily="34" charset="-120"/>
              </a:rPr>
              <a:t>CONCLUSION</a:t>
            </a:r>
            <a:endParaRPr lang="en-US" sz="1300" dirty="0"/>
          </a:p>
        </p:txBody>
      </p:sp>
      <p:sp>
        <p:nvSpPr>
          <p:cNvPr id="5" name="Text 3"/>
          <p:cNvSpPr/>
          <p:nvPr/>
        </p:nvSpPr>
        <p:spPr>
          <a:xfrm>
            <a:off x="822960" y="1783080"/>
            <a:ext cx="10058400" cy="1463040"/>
          </a:xfrm>
          <a:prstGeom prst="rect">
            <a:avLst/>
          </a:prstGeom>
          <a:noFill/>
          <a:ln/>
        </p:spPr>
        <p:txBody>
          <a:bodyPr wrap="square" lIns="0" tIns="0" rIns="0" bIns="0" rtlCol="0" anchor="ctr"/>
          <a:lstStyle/>
          <a:p>
            <a:pPr marL="0" indent="0">
              <a:lnSpc>
                <a:spcPct val="110000"/>
              </a:lnSpc>
              <a:buNone/>
            </a:pPr>
            <a:r>
              <a:rPr lang="en-US" sz="3400" b="1" dirty="0">
                <a:solidFill>
                  <a:srgbClr val="FFFFFF"/>
                </a:solidFill>
                <a:latin typeface="Cambria" pitchFamily="34" charset="0"/>
                <a:ea typeface="Cambria" pitchFamily="34" charset="-122"/>
                <a:cs typeface="Cambria" pitchFamily="34" charset="-120"/>
              </a:rPr>
              <a:t>From Descriptive Analytics to</a:t>
            </a:r>
            <a:endParaRPr lang="en-US" sz="3400" dirty="0"/>
          </a:p>
          <a:p>
            <a:pPr marL="0" indent="0">
              <a:lnSpc>
                <a:spcPct val="110000"/>
              </a:lnSpc>
              <a:buNone/>
            </a:pPr>
            <a:r>
              <a:rPr lang="en-US" sz="3400" b="1" dirty="0">
                <a:solidFill>
                  <a:srgbClr val="FFFFFF"/>
                </a:solidFill>
                <a:latin typeface="Cambria" pitchFamily="34" charset="0"/>
                <a:ea typeface="Cambria" pitchFamily="34" charset="-122"/>
                <a:cs typeface="Cambria" pitchFamily="34" charset="-120"/>
              </a:rPr>
              <a:t>Better Promotional Decisions</a:t>
            </a:r>
            <a:endParaRPr lang="en-US" sz="3400" dirty="0"/>
          </a:p>
        </p:txBody>
      </p:sp>
      <p:sp>
        <p:nvSpPr>
          <p:cNvPr id="6" name="Text 4"/>
          <p:cNvSpPr/>
          <p:nvPr/>
        </p:nvSpPr>
        <p:spPr>
          <a:xfrm>
            <a:off x="822960" y="3337560"/>
            <a:ext cx="8961120" cy="1005840"/>
          </a:xfrm>
          <a:prstGeom prst="rect">
            <a:avLst/>
          </a:prstGeom>
          <a:noFill/>
          <a:ln/>
        </p:spPr>
        <p:txBody>
          <a:bodyPr wrap="square" lIns="0" tIns="0" rIns="0" bIns="0" rtlCol="0" anchor="ctr"/>
          <a:lstStyle/>
          <a:p>
            <a:pPr marL="0" indent="0">
              <a:lnSpc>
                <a:spcPct val="130000"/>
              </a:lnSpc>
              <a:buNone/>
            </a:pPr>
            <a:r>
              <a:rPr lang="en-US" sz="1500" dirty="0">
                <a:solidFill>
                  <a:srgbClr val="CADCFC"/>
                </a:solidFill>
                <a:latin typeface="Calibri" pitchFamily="34" charset="0"/>
                <a:ea typeface="Calibri" pitchFamily="34" charset="-122"/>
                <a:cs typeface="Calibri" pitchFamily="34" charset="-120"/>
              </a:rPr>
              <a:t>Promotional effectiveness is not uniform. The optimal strategy depends on the objective, product category, city, and promotion type — and this analysis shows measurable, actionable differences across all four.</a:t>
            </a:r>
            <a:endParaRPr lang="en-US" sz="1500" dirty="0"/>
          </a:p>
        </p:txBody>
      </p:sp>
      <p:sp>
        <p:nvSpPr>
          <p:cNvPr id="7" name="Shape 5"/>
          <p:cNvSpPr/>
          <p:nvPr/>
        </p:nvSpPr>
        <p:spPr>
          <a:xfrm>
            <a:off x="822960" y="4754880"/>
            <a:ext cx="3200400" cy="0"/>
          </a:xfrm>
          <a:prstGeom prst="line">
            <a:avLst/>
          </a:prstGeom>
          <a:noFill/>
          <a:ln w="12700">
            <a:solidFill>
              <a:srgbClr val="CADCFC"/>
            </a:solidFill>
            <a:prstDash val="solid"/>
          </a:ln>
        </p:spPr>
        <p:txBody>
          <a:bodyPr/>
          <a:lstStyle/>
          <a:p>
            <a:endParaRPr lang="en-IN"/>
          </a:p>
        </p:txBody>
      </p:sp>
      <p:sp>
        <p:nvSpPr>
          <p:cNvPr id="8" name="Text 6"/>
          <p:cNvSpPr/>
          <p:nvPr/>
        </p:nvSpPr>
        <p:spPr>
          <a:xfrm>
            <a:off x="822960" y="4983480"/>
            <a:ext cx="54864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Thank You</a:t>
            </a:r>
            <a:endParaRPr lang="en-US" sz="2600" dirty="0"/>
          </a:p>
        </p:txBody>
      </p:sp>
      <p:sp>
        <p:nvSpPr>
          <p:cNvPr id="9" name="Text 7"/>
          <p:cNvSpPr/>
          <p:nvPr/>
        </p:nvSpPr>
        <p:spPr>
          <a:xfrm>
            <a:off x="822960" y="5532120"/>
            <a:ext cx="5486400" cy="36576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Questions &amp; Discussion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204</TotalTime>
  <Words>1537</Words>
  <Application>Microsoft Office PowerPoint</Application>
  <PresentationFormat>Widescreen</PresentationFormat>
  <Paragraphs>212</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user telaverge</cp:lastModifiedBy>
  <cp:revision>2</cp:revision>
  <dcterms:created xsi:type="dcterms:W3CDTF">2026-08-21T10:10:09Z</dcterms:created>
  <dcterms:modified xsi:type="dcterms:W3CDTF">2026-09-03T12:58:46Z</dcterms:modified>
</cp:coreProperties>
</file>